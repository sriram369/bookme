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c716bc803d47a9" /><Relationship Type="http://schemas.openxmlformats.org/officeDocument/2006/relationships/extended-properties" Target="/docProps/app.xml" Id="Rcabc444ed612452b" /><Relationship Type="http://schemas.openxmlformats.org/officeDocument/2006/relationships/officeDocument" Target="/ppt/presentation.xml" Id="R56e5e9fc1e004ed9" /></Relationships>
</file>

<file path=ppt/presentation.xml><?xml version="1.0" encoding="utf-8"?>
<p:presentation xmlns:p="http://schemas.openxmlformats.org/presentationml/2006/main">
  <p:sldMasterIdLst>
    <p:sldMasterId xmlns:r="http://schemas.openxmlformats.org/officeDocument/2006/relationships" id="2147483648" r:id="R793c104212b94991"/>
  </p:sldMasterIdLst>
  <p:notesMasterIdLst>
    <p:notesMasterId xmlns:r="http://schemas.openxmlformats.org/officeDocument/2006/relationships" r:id="R3615c038dfd44846"/>
  </p:notesMasterIdLst>
  <p:sldIdLst>
    <p:sldId xmlns:r="http://schemas.openxmlformats.org/officeDocument/2006/relationships" id="256" r:id="R6afbb7ebc1ea4120"/>
    <p:sldId xmlns:r="http://schemas.openxmlformats.org/officeDocument/2006/relationships" id="257" r:id="Rc3290a4a884241f1"/>
    <p:sldId xmlns:r="http://schemas.openxmlformats.org/officeDocument/2006/relationships" id="258" r:id="Ra3e2ccbb462b4e59"/>
    <p:sldId xmlns:r="http://schemas.openxmlformats.org/officeDocument/2006/relationships" id="259" r:id="Rb4805ce98a98408d"/>
    <p:sldId xmlns:r="http://schemas.openxmlformats.org/officeDocument/2006/relationships" id="260" r:id="Ra7bf45ae815b49f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793c104212b94991" /><Relationship Type="http://schemas.openxmlformats.org/officeDocument/2006/relationships/theme" Target="/ppt/theme/theme1.xml" Id="R0df8d434c69549dd" /><Relationship Type="http://schemas.openxmlformats.org/officeDocument/2006/relationships/notesMaster" Target="/ppt/notesMasters/notesMaster1.xml" Id="R3615c038dfd44846" /><Relationship Type="http://schemas.openxmlformats.org/officeDocument/2006/relationships/presProps" Target="/ppt/presProps.xml" Id="R1a38fb3e16e44880" /><Relationship Type="http://schemas.openxmlformats.org/officeDocument/2006/relationships/viewProps" Target="/ppt/viewProps.xml" Id="R7f38484b318741ab" /><Relationship Type="http://schemas.openxmlformats.org/officeDocument/2006/relationships/tableStyles" Target="/ppt/tableStyles.xml" Id="R5e1a009b1c5546c6" /><Relationship Type="http://schemas.openxmlformats.org/officeDocument/2006/relationships/slide" Target="/ppt/slides/slide1.xml" Id="R6afbb7ebc1ea4120" /><Relationship Type="http://schemas.openxmlformats.org/officeDocument/2006/relationships/slide" Target="/ppt/slides/slide2.xml" Id="Rc3290a4a884241f1" /><Relationship Type="http://schemas.openxmlformats.org/officeDocument/2006/relationships/slide" Target="/ppt/slides/slide3.xml" Id="Ra3e2ccbb462b4e59" /><Relationship Type="http://schemas.openxmlformats.org/officeDocument/2006/relationships/slide" Target="/ppt/slides/slide4.xml" Id="Rb4805ce98a98408d" /><Relationship Type="http://schemas.openxmlformats.org/officeDocument/2006/relationships/slide" Target="/ppt/slides/slide5.xml" Id="Ra7bf45ae815b49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bacfaae525d441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ee7f4b78714f04" /><Relationship Type="http://schemas.openxmlformats.org/officeDocument/2006/relationships/notesMaster" Target="/ppt/notesMasters/notesMaster1.xml" Id="R53075f7d6c1c49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6bc47f9b674b7a" /><Relationship Type="http://schemas.openxmlformats.org/officeDocument/2006/relationships/notesMaster" Target="/ppt/notesMasters/notesMaster1.xml" Id="R63ed9383039f46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fda1d394b3494c" /><Relationship Type="http://schemas.openxmlformats.org/officeDocument/2006/relationships/notesMaster" Target="/ppt/notesMasters/notesMaster1.xml" Id="Rb6638de3fef14b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4c7f23a5f84ff0" /><Relationship Type="http://schemas.openxmlformats.org/officeDocument/2006/relationships/notesMaster" Target="/ppt/notesMasters/notesMaster1.xml" Id="R20b6c0134f4548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ddd1e88e5745ac" /><Relationship Type="http://schemas.openxmlformats.org/officeDocument/2006/relationships/notesMaster" Target="/ppt/notesMasters/notesMaster1.xml" Id="Rd1368f53ad6a46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everyone, my project is BookMe. It is an AI front desk for independent hotels.</a:t>
            </a:r>
          </a:p>
          <a:p xmlns:a="http://schemas.openxmlformats.org/drawingml/2006/main">
            <a:r>
              <a:t/>
            </a:r>
          </a:p>
          <a:p xmlns:a="http://schemas.openxmlformats.org/drawingml/2006/main">
            <a:r>
              <a:t>The workflow is intentionally narrow: guests can book a room, check in, or check out from one web link.</a:t>
            </a:r>
          </a:p>
          <a:p xmlns:a="http://schemas.openxmlformats.org/drawingml/2006/main">
            <a:r>
              <a:t/>
            </a:r>
          </a:p>
          <a:p xmlns:a="http://schemas.openxmlformats.org/drawingml/2006/main">
            <a:r>
              <a:t>The key point is that BookMe is not a general chatbot. It is connected to reservation tools, so it can verify bookings, room availability, prices, and status instead of making those 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is an independent hotel owner or front-desk team.</a:t>
            </a:r>
          </a:p>
          <a:p xmlns:a="http://schemas.openxmlformats.org/drawingml/2006/main">
            <a:r>
              <a:t/>
            </a:r>
          </a:p>
          <a:p xmlns:a="http://schemas.openxmlformats.org/drawingml/2006/main">
            <a:r>
              <a:t>The problem is that many smaller hotels still handle routine guest requests manually. A guest calls, sends a message, or waits at the desk. Staff then search a spreadsheet, PMS, or register and update the status by hand.</a:t>
            </a:r>
          </a:p>
          <a:p xmlns:a="http://schemas.openxmlformats.org/drawingml/2006/main">
            <a:r>
              <a:t/>
            </a:r>
          </a:p>
          <a:p xmlns:a="http://schemas.openxmlformats.org/drawingml/2006/main">
            <a:r>
              <a:t>For this assignment, I kept the scope narrow. BookMe focuses only on booking, check-in, and checkout because those are repetitive, high-volume workflows where tool-grounded GenAI can help.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BookMe is built as a Next.js web app. The guest message goes to an API route, and the LLM decides whether to ask a follow-up question or call a tool.</a:t>
            </a:r>
          </a:p>
          <a:p xmlns:a="http://schemas.openxmlformats.org/drawingml/2006/main">
            <a:r>
              <a:t/>
            </a:r>
          </a:p>
          <a:p xmlns:a="http://schemas.openxmlformats.org/drawingml/2006/main">
            <a:r>
              <a:t>The important design choice is that the AI cannot invent operational data. Room prices, booking IDs, availability, guest status, check-in, and checkout all come from tools.</a:t>
            </a:r>
          </a:p>
          <a:p xmlns:a="http://schemas.openxmlformats.org/drawingml/2006/main">
            <a:r>
              <a:t/>
            </a:r>
          </a:p>
          <a:p xmlns:a="http://schemas.openxmlformats.org/drawingml/2006/main">
            <a:r>
              <a:t>So the AI handles the messy language, but the reservation layer handles the business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evaluation, I compared BookMe against the baseline of a manual spreadsheet or front-desk workflow.</a:t>
            </a:r>
          </a:p>
          <a:p xmlns:a="http://schemas.openxmlformats.org/drawingml/2006/main">
            <a:r>
              <a:t/>
            </a:r>
          </a:p>
          <a:p xmlns:a="http://schemas.openxmlformats.org/drawingml/2006/main">
            <a:r>
              <a:t>I tested realistic examples: valid check-in, checkout, availability, bad booking ID, and a past-date booking request.</a:t>
            </a:r>
          </a:p>
          <a:p xmlns:a="http://schemas.openxmlformats.org/drawingml/2006/main">
            <a:r>
              <a:t/>
            </a:r>
          </a:p>
          <a:p xmlns:a="http://schemas.openxmlformats.org/drawingml/2006/main">
            <a:r>
              <a:t>BookMe worked best when the data existed and the workflow was routine. It either completed the task through tools or safely stopped. For risky cases like refunds, disputes, payments, cancellations, or ID review, the correct behavior is human handoff.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artifact is a hosted Next.js app.</a:t>
            </a:r>
          </a:p>
          <a:p xmlns:a="http://schemas.openxmlformats.org/drawingml/2006/main">
            <a:r>
              <a:t/>
            </a:r>
          </a:p>
          <a:p xmlns:a="http://schemas.openxmlformats.org/drawingml/2006/main">
            <a:r>
              <a:t>There is a public landing page, a guest-facing hotel site for Sriram Hotel Chennai, an AI front-desk chat, and a hotel owner dashboard.</a:t>
            </a:r>
          </a:p>
          <a:p xmlns:a="http://schemas.openxmlformats.org/drawingml/2006/main">
            <a:r>
              <a:t/>
            </a:r>
          </a:p>
          <a:p xmlns:a="http://schemas.openxmlformats.org/drawingml/2006/main">
            <a:r>
              <a:t>The GitHub repository includes the code, prompts, tool-backed API routes, setup instructions, and evaluation notes. The main takeaway is that BookMe shows GenAI being useful inside one specific business workflow, grounded in tools rather than just free-form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ed50e8c68ed47b4"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0c08691e10d24e90" /><Relationship Type="http://schemas.openxmlformats.org/officeDocument/2006/relationships/slideLayout" Target="/ppt/slideLayouts/slideLayout2.xml" Id="R65c4afc8719d48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c4afc8719d48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63339c0c617e495a" /><Relationship Type="http://schemas.openxmlformats.org/officeDocument/2006/relationships/image" Target="/ppt/media/image.png" Id="Recea9f928acb46f2" /><Relationship Type="http://schemas.openxmlformats.org/officeDocument/2006/relationships/notesSlide" Target="/ppt/notesSlides/notesSlide1.xml" Id="R1711cdb95a0e4d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0c20e90390d4b45" /><Relationship Type="http://schemas.openxmlformats.org/officeDocument/2006/relationships/notesSlide" Target="/ppt/notesSlides/notesSlide2.xml" Id="Re757ef96c1a94a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25194870eb0420e" /><Relationship Type="http://schemas.openxmlformats.org/officeDocument/2006/relationships/notesSlide" Target="/ppt/notesSlides/notesSlide3.xml" Id="Rd1beda8de72741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12f4972c6a54571" /><Relationship Type="http://schemas.openxmlformats.org/officeDocument/2006/relationships/notesSlide" Target="/ppt/notesSlides/notesSlide4.xml" Id="Rf00b6b7e4a534d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6b13a231cb4409a" /><Relationship Type="http://schemas.openxmlformats.org/officeDocument/2006/relationships/image" Target="/ppt/media/image2.png" Id="R82eb44286ee74d6b" /><Relationship Type="http://schemas.openxmlformats.org/officeDocument/2006/relationships/image" Target="/ppt/media/image3.png" Id="R5333ebf8ffb74b23" /><Relationship Type="http://schemas.openxmlformats.org/officeDocument/2006/relationships/image" Target="/ppt/media/image4.png" Id="R2b0b5e3dee584752" /><Relationship Type="http://schemas.openxmlformats.org/officeDocument/2006/relationships/notesSlide" Target="/ppt/notesSlides/notesSlide5.xml" Id="R5241030d177e4d3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F4B4F8-025F-4AD4-B9E4-BBB3792497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70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E9E8039-ACBE-41DE-8830-F3F75049B54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1121A"/>
              </a:gs>
              <a:gs pos="42000">
                <a:srgbClr val="07070A"/>
              </a:gs>
              <a:gs pos="100000">
                <a:srgbClr val="100B18"/>
              </a:gs>
            </a:gsLst>
            <a:lin ang="8100000"/>
          </a:gra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251E929-C7C9-4391-AD0E-75816AC37F62}"/>
              </a:ext>
            </a:extLst>
          </p:cNvPr>
          <p:cNvSpPr>
            <a:spLocks xmlns:a="http://schemas.openxmlformats.org/drawingml/2006/main" noGrp="1"/>
          </p:cNvSpPr>
          <p:nvPr/>
        </p:nvSpPr>
        <p:spPr>
          <a:xfrm xmlns:a="http://schemas.openxmlformats.org/drawingml/2006/main">
            <a:off x="400050" y="323850"/>
            <a:ext cx="11391900" cy="9525"/>
          </a:xfrm>
          <a:prstGeom xmlns:a="http://schemas.openxmlformats.org/drawingml/2006/main" prst="rect">
            <a:avLst/>
          </a:prstGeom>
          <a:solidFill xmlns:a="http://schemas.openxmlformats.org/drawingml/2006/main">
            <a:srgbClr val="FFFFFF">
              <a:alpha val="9412"/>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9EC0ED33-4F3E-4663-8707-B1B1023C9C0D}"/>
              </a:ext>
            </a:extLst>
          </p:cNvPr>
          <p:cNvSpPr>
            <a:spLocks xmlns:a="http://schemas.openxmlformats.org/drawingml/2006/main" noGrp="1"/>
          </p:cNvSpPr>
          <p:nvPr/>
        </p:nvSpPr>
        <p:spPr>
          <a:xfrm xmlns:a="http://schemas.openxmlformats.org/drawingml/2006/main">
            <a:off x="514350" y="590550"/>
            <a:ext cx="495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D8FF6A"/>
                </a:solidFill>
                <a:latin typeface="Aptos"/>
                <a:ea typeface="Aptos"/>
                <a:cs typeface="Aptos"/>
              </a:defRPr>
            </a:pPr>
            <a:r>
              <a:rPr sz="975" b="1">
                <a:solidFill>
                  <a:srgbClr val="D8FF6A"/>
                </a:solidFill>
                <a:latin typeface="Aptos"/>
                <a:ea typeface="Aptos"/>
                <a:cs typeface="Aptos"/>
              </a:rPr>
              <a:t>BU.330.760 GENAI FINAL PROJECT</a:t>
            </a:r>
          </a:p>
        </p:txBody>
      </p:sp>
      <p:sp>
        <p:nvSpPr>
          <p:cNvPr id="5" name="">
            <a:extLst xmlns:a="http://schemas.openxmlformats.org/drawingml/2006/main">
              <a:ext uri="{FF2B5EF4-FFF2-40B4-BE49-F238E27FC236}">
                <a16:creationId xmlns:a16="http://schemas.microsoft.com/office/drawing/2014/main" id="{8E9E444B-569F-45C2-A294-CB7DFD3BF090}"/>
              </a:ext>
            </a:extLst>
          </p:cNvPr>
          <p:cNvSpPr>
            <a:spLocks xmlns:a="http://schemas.openxmlformats.org/drawingml/2006/main" noGrp="1"/>
          </p:cNvSpPr>
          <p:nvPr/>
        </p:nvSpPr>
        <p:spPr>
          <a:xfrm xmlns:a="http://schemas.openxmlformats.org/drawingml/2006/main">
            <a:off x="514350" y="1009650"/>
            <a:ext cx="6096000" cy="1752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050" b="1">
                <a:solidFill>
                  <a:srgbClr val="FFFFFF"/>
                </a:solidFill>
                <a:latin typeface="Aptos Display"/>
                <a:ea typeface="Aptos Display"/>
                <a:cs typeface="Aptos Display"/>
              </a:defRPr>
            </a:pPr>
            <a:r>
              <a:rPr sz="4050" b="1">
                <a:solidFill>
                  <a:srgbClr val="FFFFFF"/>
                </a:solidFill>
                <a:latin typeface="Aptos Display"/>
                <a:ea typeface="Aptos Display"/>
                <a:cs typeface="Aptos Display"/>
              </a:rPr>
              <a:t>BookMe turns a hotel website into an AI front desk.</a:t>
            </a:r>
          </a:p>
        </p:txBody>
      </p:sp>
      <p:sp>
        <p:nvSpPr>
          <p:cNvPr id="6" name="">
            <a:extLst xmlns:a="http://schemas.openxmlformats.org/drawingml/2006/main">
              <a:ext uri="{FF2B5EF4-FFF2-40B4-BE49-F238E27FC236}">
                <a16:creationId xmlns:a16="http://schemas.microsoft.com/office/drawing/2014/main" id="{275A369D-389F-4303-9C8E-8FEEA2D4076C}"/>
              </a:ext>
            </a:extLst>
          </p:cNvPr>
          <p:cNvSpPr>
            <a:spLocks xmlns:a="http://schemas.openxmlformats.org/drawingml/2006/main" noGrp="1"/>
          </p:cNvSpPr>
          <p:nvPr/>
        </p:nvSpPr>
        <p:spPr>
          <a:xfrm xmlns:a="http://schemas.openxmlformats.org/drawingml/2006/main">
            <a:off x="552450" y="2895600"/>
            <a:ext cx="5810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A7A7B4"/>
                </a:solidFill>
                <a:latin typeface="Aptos"/>
                <a:ea typeface="Aptos"/>
                <a:cs typeface="Aptos"/>
              </a:defRPr>
            </a:pPr>
            <a:r>
              <a:rPr sz="1650" b="0">
                <a:solidFill>
                  <a:srgbClr val="A7A7B4"/>
                </a:solidFill>
                <a:latin typeface="Aptos"/>
                <a:ea typeface="Aptos"/>
                <a:cs typeface="Aptos"/>
              </a:rPr>
              <a:t>A narrow, tool-grounded workflow for independent hotels: guests book, check in, and check out through natural language while staff keep control.</a:t>
            </a:r>
          </a:p>
        </p:txBody>
      </p:sp>
      <p:sp>
        <p:nvSpPr>
          <p:cNvPr id="7" name="">
            <a:extLst xmlns:a="http://schemas.openxmlformats.org/drawingml/2006/main">
              <a:ext uri="{FF2B5EF4-FFF2-40B4-BE49-F238E27FC236}">
                <a16:creationId xmlns:a16="http://schemas.microsoft.com/office/drawing/2014/main" id="{9CB4D8CA-5CC6-4473-9BA6-A4454C14D09A}"/>
              </a:ext>
            </a:extLst>
          </p:cNvPr>
          <p:cNvSpPr>
            <a:spLocks xmlns:a="http://schemas.openxmlformats.org/drawingml/2006/main" noGrp="1"/>
          </p:cNvSpPr>
          <p:nvPr/>
        </p:nvSpPr>
        <p:spPr>
          <a:xfrm xmlns:a="http://schemas.openxmlformats.org/drawingml/2006/main">
            <a:off x="552450" y="3905250"/>
            <a:ext cx="1466850" cy="361950"/>
          </a:xfrm>
          <a:prstGeom xmlns:a="http://schemas.openxmlformats.org/drawingml/2006/main" prst="roundRect">
            <a:avLst>
              <a:gd name="adj" fmla="val 21053"/>
            </a:avLst>
          </a:prstGeom>
          <a:solidFill xmlns:a="http://schemas.openxmlformats.org/drawingml/2006/main">
            <a:srgbClr val="FFFFFF">
              <a:alpha val="7059"/>
            </a:srgbClr>
          </a:solidFill>
          <a:ln xmlns:a="http://schemas.openxmlformats.org/drawingml/2006/main" w="9525">
            <a:solidFill>
              <a:srgbClr val="FFFFFF">
                <a:alpha val="13333"/>
              </a:srgbClr>
            </a:solidFill>
            <a:prstDash val="solid"/>
          </a:ln>
        </p:spPr>
      </p:sp>
      <p:sp>
        <p:nvSpPr>
          <p:cNvPr id="8" name="">
            <a:extLst xmlns:a="http://schemas.openxmlformats.org/drawingml/2006/main">
              <a:ext uri="{FF2B5EF4-FFF2-40B4-BE49-F238E27FC236}">
                <a16:creationId xmlns:a16="http://schemas.microsoft.com/office/drawing/2014/main" id="{BCD72B58-08F7-4368-B505-EAAA6B6D0AD8}"/>
              </a:ext>
            </a:extLst>
          </p:cNvPr>
          <p:cNvSpPr>
            <a:spLocks xmlns:a="http://schemas.openxmlformats.org/drawingml/2006/main" noGrp="1"/>
          </p:cNvSpPr>
          <p:nvPr/>
        </p:nvSpPr>
        <p:spPr>
          <a:xfrm xmlns:a="http://schemas.openxmlformats.org/drawingml/2006/main">
            <a:off x="704850" y="3990975"/>
            <a:ext cx="1162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Guest web link</a:t>
            </a:r>
          </a:p>
        </p:txBody>
      </p:sp>
      <p:sp>
        <p:nvSpPr>
          <p:cNvPr id="9" name="">
            <a:extLst xmlns:a="http://schemas.openxmlformats.org/drawingml/2006/main">
              <a:ext uri="{FF2B5EF4-FFF2-40B4-BE49-F238E27FC236}">
                <a16:creationId xmlns:a16="http://schemas.microsoft.com/office/drawing/2014/main" id="{1A0242CF-399A-4F23-9C2B-4C5022B9600F}"/>
              </a:ext>
            </a:extLst>
          </p:cNvPr>
          <p:cNvSpPr>
            <a:spLocks xmlns:a="http://schemas.openxmlformats.org/drawingml/2006/main" noGrp="1"/>
          </p:cNvSpPr>
          <p:nvPr/>
        </p:nvSpPr>
        <p:spPr>
          <a:xfrm xmlns:a="http://schemas.openxmlformats.org/drawingml/2006/main">
            <a:off x="2171700" y="3905250"/>
            <a:ext cx="1695450" cy="361950"/>
          </a:xfrm>
          <a:prstGeom xmlns:a="http://schemas.openxmlformats.org/drawingml/2006/main" prst="roundRect">
            <a:avLst>
              <a:gd name="adj" fmla="val 21053"/>
            </a:avLst>
          </a:prstGeom>
          <a:solidFill xmlns:a="http://schemas.openxmlformats.org/drawingml/2006/main">
            <a:srgbClr val="FFFFFF">
              <a:alpha val="7059"/>
            </a:srgbClr>
          </a:solidFill>
          <a:ln xmlns:a="http://schemas.openxmlformats.org/drawingml/2006/main" w="9525">
            <a:solidFill>
              <a:srgbClr val="FFFFFF">
                <a:alpha val="13333"/>
              </a:srgbClr>
            </a:solidFill>
            <a:prstDash val="solid"/>
          </a:ln>
        </p:spPr>
      </p:sp>
      <p:sp>
        <p:nvSpPr>
          <p:cNvPr id="10" name="">
            <a:extLst xmlns:a="http://schemas.openxmlformats.org/drawingml/2006/main">
              <a:ext uri="{FF2B5EF4-FFF2-40B4-BE49-F238E27FC236}">
                <a16:creationId xmlns:a16="http://schemas.microsoft.com/office/drawing/2014/main" id="{F3DDE9D5-ED08-4AA4-AF3C-92BA4B4F1FF9}"/>
              </a:ext>
            </a:extLst>
          </p:cNvPr>
          <p:cNvSpPr>
            <a:spLocks xmlns:a="http://schemas.openxmlformats.org/drawingml/2006/main" noGrp="1"/>
          </p:cNvSpPr>
          <p:nvPr/>
        </p:nvSpPr>
        <p:spPr>
          <a:xfrm xmlns:a="http://schemas.openxmlformats.org/drawingml/2006/main">
            <a:off x="2324100" y="3990975"/>
            <a:ext cx="1390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D8FF6A"/>
                </a:solidFill>
                <a:latin typeface="Aptos"/>
                <a:ea typeface="Aptos"/>
                <a:cs typeface="Aptos"/>
              </a:defRPr>
            </a:pPr>
            <a:r>
              <a:rPr sz="975" b="1">
                <a:solidFill>
                  <a:srgbClr val="D8FF6A"/>
                </a:solidFill>
                <a:latin typeface="Aptos"/>
                <a:ea typeface="Aptos"/>
                <a:cs typeface="Aptos"/>
              </a:rPr>
              <a:t>Reservation tools</a:t>
            </a:r>
          </a:p>
        </p:txBody>
      </p:sp>
      <p:sp>
        <p:nvSpPr>
          <p:cNvPr id="11" name="">
            <a:extLst xmlns:a="http://schemas.openxmlformats.org/drawingml/2006/main">
              <a:ext uri="{FF2B5EF4-FFF2-40B4-BE49-F238E27FC236}">
                <a16:creationId xmlns:a16="http://schemas.microsoft.com/office/drawing/2014/main" id="{62B06626-BF0E-41D8-8803-4F216D3BF437}"/>
              </a:ext>
            </a:extLst>
          </p:cNvPr>
          <p:cNvSpPr>
            <a:spLocks xmlns:a="http://schemas.openxmlformats.org/drawingml/2006/main" noGrp="1"/>
          </p:cNvSpPr>
          <p:nvPr/>
        </p:nvSpPr>
        <p:spPr>
          <a:xfrm xmlns:a="http://schemas.openxmlformats.org/drawingml/2006/main">
            <a:off x="4019550" y="3905250"/>
            <a:ext cx="1466850" cy="361950"/>
          </a:xfrm>
          <a:prstGeom xmlns:a="http://schemas.openxmlformats.org/drawingml/2006/main" prst="roundRect">
            <a:avLst>
              <a:gd name="adj" fmla="val 21053"/>
            </a:avLst>
          </a:prstGeom>
          <a:solidFill xmlns:a="http://schemas.openxmlformats.org/drawingml/2006/main">
            <a:srgbClr val="FFFFFF">
              <a:alpha val="7059"/>
            </a:srgbClr>
          </a:solidFill>
          <a:ln xmlns:a="http://schemas.openxmlformats.org/drawingml/2006/main" w="9525">
            <a:solidFill>
              <a:srgbClr val="FFFFFF">
                <a:alpha val="13333"/>
              </a:srgbClr>
            </a:solidFill>
            <a:prstDash val="solid"/>
          </a:ln>
        </p:spPr>
      </p:sp>
      <p:sp>
        <p:nvSpPr>
          <p:cNvPr id="12" name="">
            <a:extLst xmlns:a="http://schemas.openxmlformats.org/drawingml/2006/main">
              <a:ext uri="{FF2B5EF4-FFF2-40B4-BE49-F238E27FC236}">
                <a16:creationId xmlns:a16="http://schemas.microsoft.com/office/drawing/2014/main" id="{D8FF6CDC-9404-44C7-B412-ADC0B84316CD}"/>
              </a:ext>
            </a:extLst>
          </p:cNvPr>
          <p:cNvSpPr>
            <a:spLocks xmlns:a="http://schemas.openxmlformats.org/drawingml/2006/main" noGrp="1"/>
          </p:cNvSpPr>
          <p:nvPr/>
        </p:nvSpPr>
        <p:spPr>
          <a:xfrm xmlns:a="http://schemas.openxmlformats.org/drawingml/2006/main">
            <a:off x="4171950" y="3990975"/>
            <a:ext cx="1162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91F0B4"/>
                </a:solidFill>
                <a:latin typeface="Aptos"/>
                <a:ea typeface="Aptos"/>
                <a:cs typeface="Aptos"/>
              </a:defRPr>
            </a:pPr>
            <a:r>
              <a:rPr sz="975" b="1">
                <a:solidFill>
                  <a:srgbClr val="91F0B4"/>
                </a:solidFill>
                <a:latin typeface="Aptos"/>
                <a:ea typeface="Aptos"/>
                <a:cs typeface="Aptos"/>
              </a:rPr>
              <a:t>Staff handoff</a:t>
            </a:r>
          </a:p>
        </p:txBody>
      </p:sp>
      <p:sp>
        <p:nvSpPr>
          <p:cNvPr id="13" name="">
            <a:extLst xmlns:a="http://schemas.openxmlformats.org/drawingml/2006/main">
              <a:ext uri="{FF2B5EF4-FFF2-40B4-BE49-F238E27FC236}">
                <a16:creationId xmlns:a16="http://schemas.microsoft.com/office/drawing/2014/main" id="{73BDC1B3-761D-4F4E-9701-C20C304CF585}"/>
              </a:ext>
            </a:extLst>
          </p:cNvPr>
          <p:cNvSpPr>
            <a:spLocks xmlns:a="http://schemas.openxmlformats.org/drawingml/2006/main" noGrp="1"/>
          </p:cNvSpPr>
          <p:nvPr/>
        </p:nvSpPr>
        <p:spPr>
          <a:xfrm xmlns:a="http://schemas.openxmlformats.org/drawingml/2006/main">
            <a:off x="6858000" y="857250"/>
            <a:ext cx="4476750" cy="4857750"/>
          </a:xfrm>
          <a:prstGeom xmlns:a="http://schemas.openxmlformats.org/drawingml/2006/main" prst="roundRect">
            <a:avLst>
              <a:gd name="adj" fmla="val 1702"/>
            </a:avLst>
          </a:prstGeom>
          <a:solidFill xmlns:a="http://schemas.openxmlformats.org/drawingml/2006/main">
            <a:srgbClr val="05070B"/>
          </a:solidFill>
          <a:ln xmlns:a="http://schemas.openxmlformats.org/drawingml/2006/main" w="9525">
            <a:solidFill>
              <a:srgbClr val="FFFFFF">
                <a:alpha val="14118"/>
              </a:srgbClr>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cea9f928acb46f2"/>
          <a:stretch xmlns:a="http://schemas.openxmlformats.org/drawingml/2006/main"/>
        </p:blipFill>
        <p:spPr>
          <a:xfrm xmlns:a="http://schemas.openxmlformats.org/drawingml/2006/main">
            <a:off x="7086600" y="1734741"/>
            <a:ext cx="4019550" cy="251221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943AC82-FC32-44A1-840E-998085474733}"/>
              </a:ext>
            </a:extLst>
          </p:cNvPr>
          <p:cNvSpPr>
            <a:spLocks xmlns:a="http://schemas.openxmlformats.org/drawingml/2006/main" noGrp="1"/>
          </p:cNvSpPr>
          <p:nvPr/>
        </p:nvSpPr>
        <p:spPr>
          <a:xfrm xmlns:a="http://schemas.openxmlformats.org/drawingml/2006/main">
            <a:off x="7296150" y="5219700"/>
            <a:ext cx="3524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alpha val="86667"/>
                  </a:srgbClr>
                </a:solidFill>
                <a:latin typeface="Aptos"/>
                <a:ea typeface="Aptos"/>
                <a:cs typeface="Aptos"/>
              </a:defRPr>
            </a:pPr>
            <a:r>
              <a:rPr sz="1050" b="1">
                <a:solidFill>
                  <a:srgbClr val="FFFFFF">
                    <a:alpha val="86667"/>
                  </a:srgbClr>
                </a:solidFill>
                <a:latin typeface="Aptos"/>
                <a:ea typeface="Aptos"/>
                <a:cs typeface="Aptos"/>
              </a:rPr>
              <a:t>Live artifact: Sriram Hotel Chennai guest site</a:t>
            </a:r>
          </a:p>
        </p:txBody>
      </p:sp>
      <p:sp>
        <p:nvSpPr>
          <p:cNvPr id="16" name="">
            <a:extLst xmlns:a="http://schemas.openxmlformats.org/drawingml/2006/main">
              <a:ext uri="{FF2B5EF4-FFF2-40B4-BE49-F238E27FC236}">
                <a16:creationId xmlns:a16="http://schemas.microsoft.com/office/drawing/2014/main" id="{471B6DC1-F88C-4814-9F49-8A473385FF54}"/>
              </a:ext>
            </a:extLst>
          </p:cNvPr>
          <p:cNvSpPr>
            <a:spLocks xmlns:a="http://schemas.openxmlformats.org/drawingml/2006/main" noGrp="1"/>
          </p:cNvSpPr>
          <p:nvPr/>
        </p:nvSpPr>
        <p:spPr>
          <a:xfrm xmlns:a="http://schemas.openxmlformats.org/drawingml/2006/main">
            <a:off x="400050" y="6419850"/>
            <a:ext cx="1905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alpha val="53333"/>
                  </a:srgbClr>
                </a:solidFill>
                <a:latin typeface="Aptos"/>
                <a:ea typeface="Aptos"/>
                <a:cs typeface="Aptos"/>
              </a:defRPr>
            </a:pPr>
            <a:r>
              <a:rPr sz="1050" b="1">
                <a:solidFill>
                  <a:srgbClr val="FFFFFF">
                    <a:alpha val="53333"/>
                  </a:srgbClr>
                </a:solidFill>
                <a:latin typeface="Aptos"/>
                <a:ea typeface="Aptos"/>
                <a:cs typeface="Aptos"/>
              </a:rPr>
              <a:t>BookMe</a:t>
            </a:r>
          </a:p>
        </p:txBody>
      </p:sp>
      <p:sp>
        <p:nvSpPr>
          <p:cNvPr id="17" name="">
            <a:extLst xmlns:a="http://schemas.openxmlformats.org/drawingml/2006/main">
              <a:ext uri="{FF2B5EF4-FFF2-40B4-BE49-F238E27FC236}">
                <a16:creationId xmlns:a16="http://schemas.microsoft.com/office/drawing/2014/main" id="{BF843588-29AC-42D2-BD2C-0DD5BC67F908}"/>
              </a:ext>
            </a:extLst>
          </p:cNvPr>
          <p:cNvSpPr>
            <a:spLocks xmlns:a="http://schemas.openxmlformats.org/drawingml/2006/main" noGrp="1"/>
          </p:cNvSpPr>
          <p:nvPr/>
        </p:nvSpPr>
        <p:spPr>
          <a:xfrm xmlns:a="http://schemas.openxmlformats.org/drawingml/2006/main">
            <a:off x="10858500" y="6419850"/>
            <a:ext cx="914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FFFFFF">
                    <a:alpha val="40000"/>
                  </a:srgbClr>
                </a:solidFill>
                <a:latin typeface="Aptos"/>
                <a:ea typeface="Aptos"/>
                <a:cs typeface="Aptos"/>
              </a:defRPr>
            </a:pPr>
            <a:r>
              <a:rPr sz="975" b="0">
                <a:solidFill>
                  <a:srgbClr val="FFFFFF">
                    <a:alpha val="40000"/>
                  </a:srgbClr>
                </a:solidFill>
                <a:latin typeface="Aptos"/>
                <a:ea typeface="Aptos"/>
                <a:cs typeface="Aptos"/>
              </a:rPr>
              <a:t>01/05</a:t>
            </a:r>
          </a:p>
        </p:txBody>
      </p:sp>
    </p:spTree>
    <p:extLst>
      <p:ext uri="{BB962C8B-B14F-4D97-AF65-F5344CB8AC3E}">
        <p14:creationId xmlns:p14="http://schemas.microsoft.com/office/powerpoint/2010/main" val="84366061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1C2745D-7CF4-4ACD-8151-58D88D9A21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70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B48D2B7-F8AD-4186-B275-163BAB34BA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1121A"/>
              </a:gs>
              <a:gs pos="42000">
                <a:srgbClr val="07070A"/>
              </a:gs>
              <a:gs pos="100000">
                <a:srgbClr val="100B18"/>
              </a:gs>
            </a:gsLst>
            <a:lin ang="8100000"/>
          </a:gra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E5EA8FF-657E-4F67-84E9-0377B3E5E3B2}"/>
              </a:ext>
            </a:extLst>
          </p:cNvPr>
          <p:cNvSpPr>
            <a:spLocks xmlns:a="http://schemas.openxmlformats.org/drawingml/2006/main" noGrp="1"/>
          </p:cNvSpPr>
          <p:nvPr/>
        </p:nvSpPr>
        <p:spPr>
          <a:xfrm xmlns:a="http://schemas.openxmlformats.org/drawingml/2006/main">
            <a:off x="400050" y="323850"/>
            <a:ext cx="11391900" cy="9525"/>
          </a:xfrm>
          <a:prstGeom xmlns:a="http://schemas.openxmlformats.org/drawingml/2006/main" prst="rect">
            <a:avLst/>
          </a:prstGeom>
          <a:solidFill xmlns:a="http://schemas.openxmlformats.org/drawingml/2006/main">
            <a:srgbClr val="FFFFFF">
              <a:alpha val="9412"/>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5CA22B9-3AC8-44C2-928A-1483F960C540}"/>
              </a:ext>
            </a:extLst>
          </p:cNvPr>
          <p:cNvSpPr>
            <a:spLocks xmlns:a="http://schemas.openxmlformats.org/drawingml/2006/main" noGrp="1"/>
          </p:cNvSpPr>
          <p:nvPr/>
        </p:nvSpPr>
        <p:spPr>
          <a:xfrm xmlns:a="http://schemas.openxmlformats.org/drawingml/2006/main">
            <a:off x="514350" y="590550"/>
            <a:ext cx="495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D8FF6A"/>
                </a:solidFill>
                <a:latin typeface="Aptos"/>
                <a:ea typeface="Aptos"/>
                <a:cs typeface="Aptos"/>
              </a:defRPr>
            </a:pPr>
            <a:r>
              <a:rPr sz="975" b="1">
                <a:solidFill>
                  <a:srgbClr val="D8FF6A"/>
                </a:solidFill>
                <a:latin typeface="Aptos"/>
                <a:ea typeface="Aptos"/>
                <a:cs typeface="Aptos"/>
              </a:rPr>
              <a:t>THE FRONT-DESK BOTTLENECK</a:t>
            </a:r>
          </a:p>
        </p:txBody>
      </p:sp>
      <p:sp>
        <p:nvSpPr>
          <p:cNvPr id="5" name="">
            <a:extLst xmlns:a="http://schemas.openxmlformats.org/drawingml/2006/main">
              <a:ext uri="{FF2B5EF4-FFF2-40B4-BE49-F238E27FC236}">
                <a16:creationId xmlns:a16="http://schemas.microsoft.com/office/drawing/2014/main" id="{C8041660-87CC-41EB-BC90-7453BA457E53}"/>
              </a:ext>
            </a:extLst>
          </p:cNvPr>
          <p:cNvSpPr>
            <a:spLocks xmlns:a="http://schemas.openxmlformats.org/drawingml/2006/main" noGrp="1"/>
          </p:cNvSpPr>
          <p:nvPr/>
        </p:nvSpPr>
        <p:spPr>
          <a:xfrm xmlns:a="http://schemas.openxmlformats.org/drawingml/2006/main">
            <a:off x="514350" y="990600"/>
            <a:ext cx="5810250" cy="156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Small hotels still run guest requests through manual lookup.</a:t>
            </a:r>
          </a:p>
        </p:txBody>
      </p:sp>
      <p:sp>
        <p:nvSpPr>
          <p:cNvPr id="6" name="">
            <a:extLst xmlns:a="http://schemas.openxmlformats.org/drawingml/2006/main">
              <a:ext uri="{FF2B5EF4-FFF2-40B4-BE49-F238E27FC236}">
                <a16:creationId xmlns:a16="http://schemas.microsoft.com/office/drawing/2014/main" id="{074DEE9F-C2B0-4D1D-BB82-7371975D8830}"/>
              </a:ext>
            </a:extLst>
          </p:cNvPr>
          <p:cNvSpPr>
            <a:spLocks xmlns:a="http://schemas.openxmlformats.org/drawingml/2006/main" noGrp="1"/>
          </p:cNvSpPr>
          <p:nvPr/>
        </p:nvSpPr>
        <p:spPr>
          <a:xfrm xmlns:a="http://schemas.openxmlformats.org/drawingml/2006/main">
            <a:off x="552450" y="2552700"/>
            <a:ext cx="56197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A7A7B4"/>
                </a:solidFill>
                <a:latin typeface="Aptos"/>
                <a:ea typeface="Aptos"/>
                <a:cs typeface="Aptos"/>
              </a:defRPr>
            </a:pPr>
            <a:r>
              <a:rPr sz="1575" b="0">
                <a:solidFill>
                  <a:srgbClr val="A7A7B4"/>
                </a:solidFill>
                <a:latin typeface="Aptos"/>
                <a:ea typeface="Aptos"/>
                <a:cs typeface="Aptos"/>
              </a:rPr>
              <a:t>The expensive part is not conversation. It is translating messy guest messages into safe reservation actions during busy front-desk hours.</a:t>
            </a:r>
          </a:p>
        </p:txBody>
      </p:sp>
      <p:sp>
        <p:nvSpPr>
          <p:cNvPr id="7" name="">
            <a:extLst xmlns:a="http://schemas.openxmlformats.org/drawingml/2006/main">
              <a:ext uri="{FF2B5EF4-FFF2-40B4-BE49-F238E27FC236}">
                <a16:creationId xmlns:a16="http://schemas.microsoft.com/office/drawing/2014/main" id="{03358AC7-5337-452C-B008-BBECF036F45C}"/>
              </a:ext>
            </a:extLst>
          </p:cNvPr>
          <p:cNvSpPr>
            <a:spLocks xmlns:a="http://schemas.openxmlformats.org/drawingml/2006/main" noGrp="1"/>
          </p:cNvSpPr>
          <p:nvPr/>
        </p:nvSpPr>
        <p:spPr>
          <a:xfrm xmlns:a="http://schemas.openxmlformats.org/drawingml/2006/main">
            <a:off x="7200900" y="1143000"/>
            <a:ext cx="1352550" cy="1352550"/>
          </a:xfrm>
          <a:prstGeom xmlns:a="http://schemas.openxmlformats.org/drawingml/2006/main" prst="roundRect">
            <a:avLst>
              <a:gd name="adj" fmla="val 5634"/>
            </a:avLst>
          </a:prstGeom>
          <a:solidFill xmlns:a="http://schemas.openxmlformats.org/drawingml/2006/main">
            <a:srgbClr val="FFFFFF">
              <a:alpha val="5490"/>
            </a:srgbClr>
          </a:solidFill>
          <a:ln xmlns:a="http://schemas.openxmlformats.org/drawingml/2006/main" w="9525">
            <a:solidFill>
              <a:srgbClr val="FFFFFF">
                <a:alpha val="12549"/>
              </a:srgbClr>
            </a:solidFill>
            <a:prstDash val="solid"/>
          </a:ln>
        </p:spPr>
      </p:sp>
      <p:sp>
        <p:nvSpPr>
          <p:cNvPr id="8" name="">
            <a:extLst xmlns:a="http://schemas.openxmlformats.org/drawingml/2006/main">
              <a:ext uri="{FF2B5EF4-FFF2-40B4-BE49-F238E27FC236}">
                <a16:creationId xmlns:a16="http://schemas.microsoft.com/office/drawing/2014/main" id="{B43F566E-0907-41B0-8839-5B5A08D5AF40}"/>
              </a:ext>
            </a:extLst>
          </p:cNvPr>
          <p:cNvSpPr>
            <a:spLocks xmlns:a="http://schemas.openxmlformats.org/drawingml/2006/main" noGrp="1"/>
          </p:cNvSpPr>
          <p:nvPr/>
        </p:nvSpPr>
        <p:spPr>
          <a:xfrm xmlns:a="http://schemas.openxmlformats.org/drawingml/2006/main">
            <a:off x="7353300" y="1447800"/>
            <a:ext cx="1047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Guest asks</a:t>
            </a:r>
          </a:p>
        </p:txBody>
      </p:sp>
      <p:sp>
        <p:nvSpPr>
          <p:cNvPr id="9" name="">
            <a:extLst xmlns:a="http://schemas.openxmlformats.org/drawingml/2006/main">
              <a:ext uri="{FF2B5EF4-FFF2-40B4-BE49-F238E27FC236}">
                <a16:creationId xmlns:a16="http://schemas.microsoft.com/office/drawing/2014/main" id="{3F498133-208C-4247-9E07-36517BE458F1}"/>
              </a:ext>
            </a:extLst>
          </p:cNvPr>
          <p:cNvSpPr>
            <a:spLocks xmlns:a="http://schemas.openxmlformats.org/drawingml/2006/main" noGrp="1"/>
          </p:cNvSpPr>
          <p:nvPr/>
        </p:nvSpPr>
        <p:spPr>
          <a:xfrm xmlns:a="http://schemas.openxmlformats.org/drawingml/2006/main">
            <a:off x="7353300" y="1809750"/>
            <a:ext cx="1047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A7A7B4"/>
                </a:solidFill>
                <a:latin typeface="Aptos"/>
                <a:ea typeface="Aptos"/>
                <a:cs typeface="Aptos"/>
              </a:defRPr>
            </a:pPr>
            <a:r>
              <a:rPr sz="1050" b="0">
                <a:solidFill>
                  <a:srgbClr val="A7A7B4"/>
                </a:solidFill>
                <a:latin typeface="Aptos"/>
                <a:ea typeface="Aptos"/>
                <a:cs typeface="Aptos"/>
              </a:rPr>
              <a:t>“I’m checking in”</a:t>
            </a:r>
          </a:p>
        </p:txBody>
      </p:sp>
      <p:sp>
        <p:nvSpPr>
          <p:cNvPr id="10" name="">
            <a:extLst xmlns:a="http://schemas.openxmlformats.org/drawingml/2006/main">
              <a:ext uri="{FF2B5EF4-FFF2-40B4-BE49-F238E27FC236}">
                <a16:creationId xmlns:a16="http://schemas.microsoft.com/office/drawing/2014/main" id="{80C0426F-F5D1-456A-8C36-4E4E20328CEF}"/>
              </a:ext>
            </a:extLst>
          </p:cNvPr>
          <p:cNvSpPr>
            <a:spLocks xmlns:a="http://schemas.openxmlformats.org/drawingml/2006/main" noGrp="1"/>
          </p:cNvSpPr>
          <p:nvPr/>
        </p:nvSpPr>
        <p:spPr>
          <a:xfrm xmlns:a="http://schemas.openxmlformats.org/drawingml/2006/main">
            <a:off x="8629650" y="1809750"/>
            <a:ext cx="304800" cy="19050"/>
          </a:xfrm>
          <a:prstGeom xmlns:a="http://schemas.openxmlformats.org/drawingml/2006/main" prst="rect">
            <a:avLst/>
          </a:prstGeom>
          <a:solidFill xmlns:a="http://schemas.openxmlformats.org/drawingml/2006/main">
            <a:srgbClr val="D8FF6A"/>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B58B954B-9915-4F6A-8824-7FB820CCC80A}"/>
              </a:ext>
            </a:extLst>
          </p:cNvPr>
          <p:cNvSpPr>
            <a:spLocks xmlns:a="http://schemas.openxmlformats.org/drawingml/2006/main" noGrp="1"/>
          </p:cNvSpPr>
          <p:nvPr/>
        </p:nvSpPr>
        <p:spPr>
          <a:xfrm xmlns:a="http://schemas.openxmlformats.org/drawingml/2006/main">
            <a:off x="8915400" y="1771650"/>
            <a:ext cx="76200" cy="95250"/>
          </a:xfrm>
          <a:prstGeom xmlns:a="http://schemas.openxmlformats.org/drawingml/2006/main" prst="triangle">
            <a:avLst/>
          </a:prstGeom>
          <a:solidFill xmlns:a="http://schemas.openxmlformats.org/drawingml/2006/main">
            <a:srgbClr val="D8FF6A"/>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E8E5C290-4C94-4708-9EC5-DEC2CC413915}"/>
              </a:ext>
            </a:extLst>
          </p:cNvPr>
          <p:cNvSpPr>
            <a:spLocks xmlns:a="http://schemas.openxmlformats.org/drawingml/2006/main" noGrp="1"/>
          </p:cNvSpPr>
          <p:nvPr/>
        </p:nvSpPr>
        <p:spPr>
          <a:xfrm xmlns:a="http://schemas.openxmlformats.org/drawingml/2006/main">
            <a:off x="8629650" y="1143000"/>
            <a:ext cx="1352550" cy="1352550"/>
          </a:xfrm>
          <a:prstGeom xmlns:a="http://schemas.openxmlformats.org/drawingml/2006/main" prst="roundRect">
            <a:avLst>
              <a:gd name="adj" fmla="val 5634"/>
            </a:avLst>
          </a:prstGeom>
          <a:solidFill xmlns:a="http://schemas.openxmlformats.org/drawingml/2006/main">
            <a:srgbClr val="FFFFFF">
              <a:alpha val="5490"/>
            </a:srgbClr>
          </a:solidFill>
          <a:ln xmlns:a="http://schemas.openxmlformats.org/drawingml/2006/main" w="9525">
            <a:solidFill>
              <a:srgbClr val="FFFFFF">
                <a:alpha val="12549"/>
              </a:srgbClr>
            </a:solidFill>
            <a:prstDash val="solid"/>
          </a:ln>
        </p:spPr>
      </p:sp>
      <p:sp>
        <p:nvSpPr>
          <p:cNvPr id="13" name="">
            <a:extLst xmlns:a="http://schemas.openxmlformats.org/drawingml/2006/main">
              <a:ext uri="{FF2B5EF4-FFF2-40B4-BE49-F238E27FC236}">
                <a16:creationId xmlns:a16="http://schemas.microsoft.com/office/drawing/2014/main" id="{B6FC998D-6408-44D8-BEFC-775C51D177A2}"/>
              </a:ext>
            </a:extLst>
          </p:cNvPr>
          <p:cNvSpPr>
            <a:spLocks xmlns:a="http://schemas.openxmlformats.org/drawingml/2006/main" noGrp="1"/>
          </p:cNvSpPr>
          <p:nvPr/>
        </p:nvSpPr>
        <p:spPr>
          <a:xfrm xmlns:a="http://schemas.openxmlformats.org/drawingml/2006/main">
            <a:off x="8782050" y="1447800"/>
            <a:ext cx="1047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Staff searches</a:t>
            </a:r>
          </a:p>
        </p:txBody>
      </p:sp>
      <p:sp>
        <p:nvSpPr>
          <p:cNvPr id="14" name="">
            <a:extLst xmlns:a="http://schemas.openxmlformats.org/drawingml/2006/main">
              <a:ext uri="{FF2B5EF4-FFF2-40B4-BE49-F238E27FC236}">
                <a16:creationId xmlns:a16="http://schemas.microsoft.com/office/drawing/2014/main" id="{3BFCBE38-AE15-499F-8AE0-42DDEAE5F510}"/>
              </a:ext>
            </a:extLst>
          </p:cNvPr>
          <p:cNvSpPr>
            <a:spLocks xmlns:a="http://schemas.openxmlformats.org/drawingml/2006/main" noGrp="1"/>
          </p:cNvSpPr>
          <p:nvPr/>
        </p:nvSpPr>
        <p:spPr>
          <a:xfrm xmlns:a="http://schemas.openxmlformats.org/drawingml/2006/main">
            <a:off x="8782050" y="1809750"/>
            <a:ext cx="1047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A7A7B4"/>
                </a:solidFill>
                <a:latin typeface="Aptos"/>
                <a:ea typeface="Aptos"/>
                <a:cs typeface="Aptos"/>
              </a:defRPr>
            </a:pPr>
            <a:r>
              <a:rPr sz="1050" b="0">
                <a:solidFill>
                  <a:srgbClr val="A7A7B4"/>
                </a:solidFill>
                <a:latin typeface="Aptos"/>
                <a:ea typeface="Aptos"/>
                <a:cs typeface="Aptos"/>
              </a:rPr>
              <a:t>Sheet / PMS / register</a:t>
            </a:r>
          </a:p>
        </p:txBody>
      </p:sp>
      <p:sp>
        <p:nvSpPr>
          <p:cNvPr id="15" name="">
            <a:extLst xmlns:a="http://schemas.openxmlformats.org/drawingml/2006/main">
              <a:ext uri="{FF2B5EF4-FFF2-40B4-BE49-F238E27FC236}">
                <a16:creationId xmlns:a16="http://schemas.microsoft.com/office/drawing/2014/main" id="{508B5CA4-73C8-434C-8415-9EE82E8F6893}"/>
              </a:ext>
            </a:extLst>
          </p:cNvPr>
          <p:cNvSpPr>
            <a:spLocks xmlns:a="http://schemas.openxmlformats.org/drawingml/2006/main" noGrp="1"/>
          </p:cNvSpPr>
          <p:nvPr/>
        </p:nvSpPr>
        <p:spPr>
          <a:xfrm xmlns:a="http://schemas.openxmlformats.org/drawingml/2006/main">
            <a:off x="10058400" y="1809750"/>
            <a:ext cx="304800" cy="19050"/>
          </a:xfrm>
          <a:prstGeom xmlns:a="http://schemas.openxmlformats.org/drawingml/2006/main" prst="rect">
            <a:avLst/>
          </a:prstGeom>
          <a:solidFill xmlns:a="http://schemas.openxmlformats.org/drawingml/2006/main">
            <a:srgbClr val="D8FF6A"/>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E479B54D-6AA2-4A68-B821-C515CACB11A4}"/>
              </a:ext>
            </a:extLst>
          </p:cNvPr>
          <p:cNvSpPr>
            <a:spLocks xmlns:a="http://schemas.openxmlformats.org/drawingml/2006/main" noGrp="1"/>
          </p:cNvSpPr>
          <p:nvPr/>
        </p:nvSpPr>
        <p:spPr>
          <a:xfrm xmlns:a="http://schemas.openxmlformats.org/drawingml/2006/main">
            <a:off x="10344150" y="1771650"/>
            <a:ext cx="76200" cy="95250"/>
          </a:xfrm>
          <a:prstGeom xmlns:a="http://schemas.openxmlformats.org/drawingml/2006/main" prst="triangle">
            <a:avLst/>
          </a:prstGeom>
          <a:solidFill xmlns:a="http://schemas.openxmlformats.org/drawingml/2006/main">
            <a:srgbClr val="D8FF6A"/>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63B77624-1A67-418F-9F5A-2CDAFAD3CD3D}"/>
              </a:ext>
            </a:extLst>
          </p:cNvPr>
          <p:cNvSpPr>
            <a:spLocks xmlns:a="http://schemas.openxmlformats.org/drawingml/2006/main" noGrp="1"/>
          </p:cNvSpPr>
          <p:nvPr/>
        </p:nvSpPr>
        <p:spPr>
          <a:xfrm xmlns:a="http://schemas.openxmlformats.org/drawingml/2006/main">
            <a:off x="10058400" y="1143000"/>
            <a:ext cx="1352550" cy="1352550"/>
          </a:xfrm>
          <a:prstGeom xmlns:a="http://schemas.openxmlformats.org/drawingml/2006/main" prst="roundRect">
            <a:avLst>
              <a:gd name="adj" fmla="val 5634"/>
            </a:avLst>
          </a:prstGeom>
          <a:solidFill xmlns:a="http://schemas.openxmlformats.org/drawingml/2006/main">
            <a:srgbClr val="FFFFFF">
              <a:alpha val="5490"/>
            </a:srgbClr>
          </a:solidFill>
          <a:ln xmlns:a="http://schemas.openxmlformats.org/drawingml/2006/main" w="9525">
            <a:solidFill>
              <a:srgbClr val="FFFFFF">
                <a:alpha val="12549"/>
              </a:srgbClr>
            </a:solidFill>
            <a:prstDash val="solid"/>
          </a:ln>
        </p:spPr>
      </p:sp>
      <p:sp>
        <p:nvSpPr>
          <p:cNvPr id="18" name="">
            <a:extLst xmlns:a="http://schemas.openxmlformats.org/drawingml/2006/main">
              <a:ext uri="{FF2B5EF4-FFF2-40B4-BE49-F238E27FC236}">
                <a16:creationId xmlns:a16="http://schemas.microsoft.com/office/drawing/2014/main" id="{9ECD0BE8-70F5-48FA-B844-F08B33DBAF1F}"/>
              </a:ext>
            </a:extLst>
          </p:cNvPr>
          <p:cNvSpPr>
            <a:spLocks xmlns:a="http://schemas.openxmlformats.org/drawingml/2006/main" noGrp="1"/>
          </p:cNvSpPr>
          <p:nvPr/>
        </p:nvSpPr>
        <p:spPr>
          <a:xfrm xmlns:a="http://schemas.openxmlformats.org/drawingml/2006/main">
            <a:off x="10210800" y="1447800"/>
            <a:ext cx="1047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Staff updates</a:t>
            </a:r>
          </a:p>
        </p:txBody>
      </p:sp>
      <p:sp>
        <p:nvSpPr>
          <p:cNvPr id="19" name="">
            <a:extLst xmlns:a="http://schemas.openxmlformats.org/drawingml/2006/main">
              <a:ext uri="{FF2B5EF4-FFF2-40B4-BE49-F238E27FC236}">
                <a16:creationId xmlns:a16="http://schemas.microsoft.com/office/drawing/2014/main" id="{AD42F95E-4ED8-49EE-B49A-E6A9365B6A3F}"/>
              </a:ext>
            </a:extLst>
          </p:cNvPr>
          <p:cNvSpPr>
            <a:spLocks xmlns:a="http://schemas.openxmlformats.org/drawingml/2006/main" noGrp="1"/>
          </p:cNvSpPr>
          <p:nvPr/>
        </p:nvSpPr>
        <p:spPr>
          <a:xfrm xmlns:a="http://schemas.openxmlformats.org/drawingml/2006/main">
            <a:off x="10210800" y="1809750"/>
            <a:ext cx="1047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A7A7B4"/>
                </a:solidFill>
                <a:latin typeface="Aptos"/>
                <a:ea typeface="Aptos"/>
                <a:cs typeface="Aptos"/>
              </a:defRPr>
            </a:pPr>
            <a:r>
              <a:rPr sz="1050" b="0">
                <a:solidFill>
                  <a:srgbClr val="A7A7B4"/>
                </a:solidFill>
                <a:latin typeface="Aptos"/>
                <a:ea typeface="Aptos"/>
                <a:cs typeface="Aptos"/>
              </a:rPr>
              <a:t>Status, room, payment</a:t>
            </a:r>
          </a:p>
        </p:txBody>
      </p:sp>
      <p:sp>
        <p:nvSpPr>
          <p:cNvPr id="20" name="">
            <a:extLst xmlns:a="http://schemas.openxmlformats.org/drawingml/2006/main">
              <a:ext uri="{FF2B5EF4-FFF2-40B4-BE49-F238E27FC236}">
                <a16:creationId xmlns:a16="http://schemas.microsoft.com/office/drawing/2014/main" id="{B8E1D1FC-92F2-4944-AC8B-414317349828}"/>
              </a:ext>
            </a:extLst>
          </p:cNvPr>
          <p:cNvSpPr>
            <a:spLocks xmlns:a="http://schemas.openxmlformats.org/drawingml/2006/main" noGrp="1"/>
          </p:cNvSpPr>
          <p:nvPr/>
        </p:nvSpPr>
        <p:spPr>
          <a:xfrm xmlns:a="http://schemas.openxmlformats.org/drawingml/2006/main">
            <a:off x="552450" y="3905250"/>
            <a:ext cx="2476500" cy="1809750"/>
          </a:xfrm>
          <a:prstGeom xmlns:a="http://schemas.openxmlformats.org/drawingml/2006/main" prst="roundRect">
            <a:avLst>
              <a:gd name="adj" fmla="val 4211"/>
            </a:avLst>
          </a:prstGeom>
          <a:solidFill xmlns:a="http://schemas.openxmlformats.org/drawingml/2006/main">
            <a:srgbClr val="121218"/>
          </a:solidFill>
          <a:ln xmlns:a="http://schemas.openxmlformats.org/drawingml/2006/main" w="9525">
            <a:solidFill>
              <a:srgbClr val="FFFFFF">
                <a:alpha val="9412"/>
              </a:srgbClr>
            </a:solidFill>
            <a:prstDash val="solid"/>
          </a:ln>
        </p:spPr>
      </p:sp>
      <p:sp>
        <p:nvSpPr>
          <p:cNvPr id="21" name="">
            <a:extLst xmlns:a="http://schemas.openxmlformats.org/drawingml/2006/main">
              <a:ext uri="{FF2B5EF4-FFF2-40B4-BE49-F238E27FC236}">
                <a16:creationId xmlns:a16="http://schemas.microsoft.com/office/drawing/2014/main" id="{7D412CB2-F94C-4548-BFE8-A6F276CF7308}"/>
              </a:ext>
            </a:extLst>
          </p:cNvPr>
          <p:cNvSpPr>
            <a:spLocks xmlns:a="http://schemas.openxmlformats.org/drawingml/2006/main" noGrp="1"/>
          </p:cNvSpPr>
          <p:nvPr/>
        </p:nvSpPr>
        <p:spPr>
          <a:xfrm xmlns:a="http://schemas.openxmlformats.org/drawingml/2006/main">
            <a:off x="742950" y="4076700"/>
            <a:ext cx="400050" cy="38100"/>
          </a:xfrm>
          <a:prstGeom xmlns:a="http://schemas.openxmlformats.org/drawingml/2006/main" prst="roundRect">
            <a:avLst>
              <a:gd name="adj" fmla="val 50000"/>
            </a:avLst>
          </a:prstGeom>
          <a:solidFill xmlns:a="http://schemas.openxmlformats.org/drawingml/2006/main">
            <a:srgbClr val="FFB3C7"/>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288454EB-7248-490F-9809-1BBAEF36EDF8}"/>
              </a:ext>
            </a:extLst>
          </p:cNvPr>
          <p:cNvSpPr>
            <a:spLocks xmlns:a="http://schemas.openxmlformats.org/drawingml/2006/main" noGrp="1"/>
          </p:cNvSpPr>
          <p:nvPr/>
        </p:nvSpPr>
        <p:spPr>
          <a:xfrm xmlns:a="http://schemas.openxmlformats.org/drawingml/2006/main">
            <a:off x="742950" y="422910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F7080"/>
                </a:solidFill>
                <a:latin typeface="Aptos"/>
                <a:ea typeface="Aptos"/>
                <a:cs typeface="Aptos"/>
              </a:defRPr>
            </a:pPr>
            <a:r>
              <a:rPr sz="975" b="1">
                <a:solidFill>
                  <a:srgbClr val="6F7080"/>
                </a:solidFill>
                <a:latin typeface="Aptos"/>
                <a:ea typeface="Aptos"/>
                <a:cs typeface="Aptos"/>
              </a:rPr>
              <a:t>Baseline</a:t>
            </a:r>
          </a:p>
        </p:txBody>
      </p:sp>
      <p:sp>
        <p:nvSpPr>
          <p:cNvPr id="23" name="">
            <a:extLst xmlns:a="http://schemas.openxmlformats.org/drawingml/2006/main">
              <a:ext uri="{FF2B5EF4-FFF2-40B4-BE49-F238E27FC236}">
                <a16:creationId xmlns:a16="http://schemas.microsoft.com/office/drawing/2014/main" id="{BA7A4AC9-6F6A-409A-A548-4B5860A6DFB4}"/>
              </a:ext>
            </a:extLst>
          </p:cNvPr>
          <p:cNvSpPr>
            <a:spLocks xmlns:a="http://schemas.openxmlformats.org/drawingml/2006/main" noGrp="1"/>
          </p:cNvSpPr>
          <p:nvPr/>
        </p:nvSpPr>
        <p:spPr>
          <a:xfrm xmlns:a="http://schemas.openxmlformats.org/drawingml/2006/main">
            <a:off x="742950" y="4552950"/>
            <a:ext cx="2095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FFFFF"/>
                </a:solidFill>
                <a:latin typeface="Aptos"/>
                <a:ea typeface="Aptos"/>
                <a:cs typeface="Aptos"/>
              </a:defRPr>
            </a:pPr>
            <a:r>
              <a:rPr sz="2550" b="1">
                <a:solidFill>
                  <a:srgbClr val="FFFFFF"/>
                </a:solidFill>
                <a:latin typeface="Aptos"/>
                <a:ea typeface="Aptos"/>
                <a:cs typeface="Aptos"/>
              </a:rPr>
              <a:t>Manual</a:t>
            </a:r>
          </a:p>
        </p:txBody>
      </p:sp>
      <p:sp>
        <p:nvSpPr>
          <p:cNvPr id="24" name="">
            <a:extLst xmlns:a="http://schemas.openxmlformats.org/drawingml/2006/main">
              <a:ext uri="{FF2B5EF4-FFF2-40B4-BE49-F238E27FC236}">
                <a16:creationId xmlns:a16="http://schemas.microsoft.com/office/drawing/2014/main" id="{FF1FCD54-5C69-45BC-A5CB-7824588A0035}"/>
              </a:ext>
            </a:extLst>
          </p:cNvPr>
          <p:cNvSpPr>
            <a:spLocks xmlns:a="http://schemas.openxmlformats.org/drawingml/2006/main" noGrp="1"/>
          </p:cNvSpPr>
          <p:nvPr/>
        </p:nvSpPr>
        <p:spPr>
          <a:xfrm xmlns:a="http://schemas.openxmlformats.org/drawingml/2006/main">
            <a:off x="742950" y="5067300"/>
            <a:ext cx="2095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7A7B4"/>
                </a:solidFill>
                <a:latin typeface="Aptos"/>
                <a:ea typeface="Aptos"/>
                <a:cs typeface="Aptos"/>
              </a:defRPr>
            </a:pPr>
            <a:r>
              <a:rPr sz="1125" b="0">
                <a:solidFill>
                  <a:srgbClr val="A7A7B4"/>
                </a:solidFill>
                <a:latin typeface="Aptos"/>
                <a:ea typeface="Aptos"/>
                <a:cs typeface="Aptos"/>
              </a:rPr>
              <a:t>Guest calls or messages; staff searches spreadsheets and updates status by hand.</a:t>
            </a:r>
          </a:p>
        </p:txBody>
      </p:sp>
      <p:sp>
        <p:nvSpPr>
          <p:cNvPr id="25" name="">
            <a:extLst xmlns:a="http://schemas.openxmlformats.org/drawingml/2006/main">
              <a:ext uri="{FF2B5EF4-FFF2-40B4-BE49-F238E27FC236}">
                <a16:creationId xmlns:a16="http://schemas.microsoft.com/office/drawing/2014/main" id="{DB1A4155-800F-40C5-B5A0-50F3EFBC8A60}"/>
              </a:ext>
            </a:extLst>
          </p:cNvPr>
          <p:cNvSpPr>
            <a:spLocks xmlns:a="http://schemas.openxmlformats.org/drawingml/2006/main" noGrp="1"/>
          </p:cNvSpPr>
          <p:nvPr/>
        </p:nvSpPr>
        <p:spPr>
          <a:xfrm xmlns:a="http://schemas.openxmlformats.org/drawingml/2006/main">
            <a:off x="3314700" y="3905250"/>
            <a:ext cx="2476500" cy="1809750"/>
          </a:xfrm>
          <a:prstGeom xmlns:a="http://schemas.openxmlformats.org/drawingml/2006/main" prst="roundRect">
            <a:avLst>
              <a:gd name="adj" fmla="val 4211"/>
            </a:avLst>
          </a:prstGeom>
          <a:solidFill xmlns:a="http://schemas.openxmlformats.org/drawingml/2006/main">
            <a:srgbClr val="121218"/>
          </a:solidFill>
          <a:ln xmlns:a="http://schemas.openxmlformats.org/drawingml/2006/main" w="9525">
            <a:solidFill>
              <a:srgbClr val="FFFFFF">
                <a:alpha val="9412"/>
              </a:srgbClr>
            </a:solidFill>
            <a:prstDash val="solid"/>
          </a:ln>
        </p:spPr>
      </p:sp>
      <p:sp>
        <p:nvSpPr>
          <p:cNvPr id="26" name="">
            <a:extLst xmlns:a="http://schemas.openxmlformats.org/drawingml/2006/main">
              <a:ext uri="{FF2B5EF4-FFF2-40B4-BE49-F238E27FC236}">
                <a16:creationId xmlns:a16="http://schemas.microsoft.com/office/drawing/2014/main" id="{1A71BD53-6B2C-4BCE-91FB-0C98F6CC6809}"/>
              </a:ext>
            </a:extLst>
          </p:cNvPr>
          <p:cNvSpPr>
            <a:spLocks xmlns:a="http://schemas.openxmlformats.org/drawingml/2006/main" noGrp="1"/>
          </p:cNvSpPr>
          <p:nvPr/>
        </p:nvSpPr>
        <p:spPr>
          <a:xfrm xmlns:a="http://schemas.openxmlformats.org/drawingml/2006/main">
            <a:off x="3505200" y="4076700"/>
            <a:ext cx="400050" cy="38100"/>
          </a:xfrm>
          <a:prstGeom xmlns:a="http://schemas.openxmlformats.org/drawingml/2006/main" prst="roundRect">
            <a:avLst>
              <a:gd name="adj" fmla="val 50000"/>
            </a:avLst>
          </a:prstGeom>
          <a:solidFill xmlns:a="http://schemas.openxmlformats.org/drawingml/2006/main">
            <a:srgbClr val="91C8FF"/>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1A92CD59-CBAC-4631-99AF-9757CD864160}"/>
              </a:ext>
            </a:extLst>
          </p:cNvPr>
          <p:cNvSpPr>
            <a:spLocks xmlns:a="http://schemas.openxmlformats.org/drawingml/2006/main" noGrp="1"/>
          </p:cNvSpPr>
          <p:nvPr/>
        </p:nvSpPr>
        <p:spPr>
          <a:xfrm xmlns:a="http://schemas.openxmlformats.org/drawingml/2006/main">
            <a:off x="3505200" y="422910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F7080"/>
                </a:solidFill>
                <a:latin typeface="Aptos"/>
                <a:ea typeface="Aptos"/>
                <a:cs typeface="Aptos"/>
              </a:defRPr>
            </a:pPr>
            <a:r>
              <a:rPr sz="975" b="1">
                <a:solidFill>
                  <a:srgbClr val="6F7080"/>
                </a:solidFill>
                <a:latin typeface="Aptos"/>
                <a:ea typeface="Aptos"/>
                <a:cs typeface="Aptos"/>
              </a:rPr>
              <a:t>Failure mode</a:t>
            </a:r>
          </a:p>
        </p:txBody>
      </p:sp>
      <p:sp>
        <p:nvSpPr>
          <p:cNvPr id="28" name="">
            <a:extLst xmlns:a="http://schemas.openxmlformats.org/drawingml/2006/main">
              <a:ext uri="{FF2B5EF4-FFF2-40B4-BE49-F238E27FC236}">
                <a16:creationId xmlns:a16="http://schemas.microsoft.com/office/drawing/2014/main" id="{F826AFA9-9B9E-4F8C-A86B-5A9197D4806C}"/>
              </a:ext>
            </a:extLst>
          </p:cNvPr>
          <p:cNvSpPr>
            <a:spLocks xmlns:a="http://schemas.openxmlformats.org/drawingml/2006/main" noGrp="1"/>
          </p:cNvSpPr>
          <p:nvPr/>
        </p:nvSpPr>
        <p:spPr>
          <a:xfrm xmlns:a="http://schemas.openxmlformats.org/drawingml/2006/main">
            <a:off x="3505200" y="4552950"/>
            <a:ext cx="2095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FFFFF"/>
                </a:solidFill>
                <a:latin typeface="Aptos"/>
                <a:ea typeface="Aptos"/>
                <a:cs typeface="Aptos"/>
              </a:defRPr>
            </a:pPr>
            <a:r>
              <a:rPr sz="2550" b="1">
                <a:solidFill>
                  <a:srgbClr val="FFFFFF"/>
                </a:solidFill>
                <a:latin typeface="Aptos"/>
                <a:ea typeface="Aptos"/>
                <a:cs typeface="Aptos"/>
              </a:rPr>
              <a:t>Slow + brittle</a:t>
            </a:r>
          </a:p>
        </p:txBody>
      </p:sp>
      <p:sp>
        <p:nvSpPr>
          <p:cNvPr id="29" name="">
            <a:extLst xmlns:a="http://schemas.openxmlformats.org/drawingml/2006/main">
              <a:ext uri="{FF2B5EF4-FFF2-40B4-BE49-F238E27FC236}">
                <a16:creationId xmlns:a16="http://schemas.microsoft.com/office/drawing/2014/main" id="{393B5EDB-0EBA-4CBC-8EFC-A862BA8DA5F5}"/>
              </a:ext>
            </a:extLst>
          </p:cNvPr>
          <p:cNvSpPr>
            <a:spLocks xmlns:a="http://schemas.openxmlformats.org/drawingml/2006/main" noGrp="1"/>
          </p:cNvSpPr>
          <p:nvPr/>
        </p:nvSpPr>
        <p:spPr>
          <a:xfrm xmlns:a="http://schemas.openxmlformats.org/drawingml/2006/main">
            <a:off x="3505200" y="5067300"/>
            <a:ext cx="2095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7A7B4"/>
                </a:solidFill>
                <a:latin typeface="Aptos"/>
                <a:ea typeface="Aptos"/>
                <a:cs typeface="Aptos"/>
              </a:defRPr>
            </a:pPr>
            <a:r>
              <a:rPr sz="1125" b="0">
                <a:solidFill>
                  <a:srgbClr val="A7A7B4"/>
                </a:solidFill>
                <a:latin typeface="Aptos"/>
                <a:ea typeface="Aptos"/>
                <a:cs typeface="Aptos"/>
              </a:rPr>
              <a:t>Repetitive work is easy to delay, miss, or update incorrectly during rush hours.</a:t>
            </a:r>
          </a:p>
        </p:txBody>
      </p:sp>
      <p:sp>
        <p:nvSpPr>
          <p:cNvPr id="30" name="">
            <a:extLst xmlns:a="http://schemas.openxmlformats.org/drawingml/2006/main">
              <a:ext uri="{FF2B5EF4-FFF2-40B4-BE49-F238E27FC236}">
                <a16:creationId xmlns:a16="http://schemas.microsoft.com/office/drawing/2014/main" id="{4F0D5294-990E-40B5-8C42-7EB9A3B08139}"/>
              </a:ext>
            </a:extLst>
          </p:cNvPr>
          <p:cNvSpPr>
            <a:spLocks xmlns:a="http://schemas.openxmlformats.org/drawingml/2006/main" noGrp="1"/>
          </p:cNvSpPr>
          <p:nvPr/>
        </p:nvSpPr>
        <p:spPr>
          <a:xfrm xmlns:a="http://schemas.openxmlformats.org/drawingml/2006/main">
            <a:off x="6076950" y="3905250"/>
            <a:ext cx="2476500" cy="1809750"/>
          </a:xfrm>
          <a:prstGeom xmlns:a="http://schemas.openxmlformats.org/drawingml/2006/main" prst="roundRect">
            <a:avLst>
              <a:gd name="adj" fmla="val 4211"/>
            </a:avLst>
          </a:prstGeom>
          <a:solidFill xmlns:a="http://schemas.openxmlformats.org/drawingml/2006/main">
            <a:srgbClr val="121218"/>
          </a:solidFill>
          <a:ln xmlns:a="http://schemas.openxmlformats.org/drawingml/2006/main" w="9525">
            <a:solidFill>
              <a:srgbClr val="FFFFFF">
                <a:alpha val="9412"/>
              </a:srgbClr>
            </a:solidFill>
            <a:prstDash val="solid"/>
          </a:ln>
        </p:spPr>
      </p:sp>
      <p:sp>
        <p:nvSpPr>
          <p:cNvPr id="31" name="">
            <a:extLst xmlns:a="http://schemas.openxmlformats.org/drawingml/2006/main">
              <a:ext uri="{FF2B5EF4-FFF2-40B4-BE49-F238E27FC236}">
                <a16:creationId xmlns:a16="http://schemas.microsoft.com/office/drawing/2014/main" id="{4FD90B44-FDA6-4124-A49E-8A828896F779}"/>
              </a:ext>
            </a:extLst>
          </p:cNvPr>
          <p:cNvSpPr>
            <a:spLocks xmlns:a="http://schemas.openxmlformats.org/drawingml/2006/main" noGrp="1"/>
          </p:cNvSpPr>
          <p:nvPr/>
        </p:nvSpPr>
        <p:spPr>
          <a:xfrm xmlns:a="http://schemas.openxmlformats.org/drawingml/2006/main">
            <a:off x="6267450" y="4076700"/>
            <a:ext cx="400050" cy="38100"/>
          </a:xfrm>
          <a:prstGeom xmlns:a="http://schemas.openxmlformats.org/drawingml/2006/main" prst="roundRect">
            <a:avLst>
              <a:gd name="adj" fmla="val 50000"/>
            </a:avLst>
          </a:prstGeom>
          <a:solidFill xmlns:a="http://schemas.openxmlformats.org/drawingml/2006/main">
            <a:srgbClr val="91F0B4"/>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91BE7A87-788D-45DC-B16A-52D0FFB561FA}"/>
              </a:ext>
            </a:extLst>
          </p:cNvPr>
          <p:cNvSpPr>
            <a:spLocks xmlns:a="http://schemas.openxmlformats.org/drawingml/2006/main" noGrp="1"/>
          </p:cNvSpPr>
          <p:nvPr/>
        </p:nvSpPr>
        <p:spPr>
          <a:xfrm xmlns:a="http://schemas.openxmlformats.org/drawingml/2006/main">
            <a:off x="6267450" y="422910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F7080"/>
                </a:solidFill>
                <a:latin typeface="Aptos"/>
                <a:ea typeface="Aptos"/>
                <a:cs typeface="Aptos"/>
              </a:defRPr>
            </a:pPr>
            <a:r>
              <a:rPr sz="975" b="1">
                <a:solidFill>
                  <a:srgbClr val="6F7080"/>
                </a:solidFill>
                <a:latin typeface="Aptos"/>
                <a:ea typeface="Aptos"/>
                <a:cs typeface="Aptos"/>
              </a:rPr>
              <a:t>Opportunity</a:t>
            </a:r>
          </a:p>
        </p:txBody>
      </p:sp>
      <p:sp>
        <p:nvSpPr>
          <p:cNvPr id="33" name="">
            <a:extLst xmlns:a="http://schemas.openxmlformats.org/drawingml/2006/main">
              <a:ext uri="{FF2B5EF4-FFF2-40B4-BE49-F238E27FC236}">
                <a16:creationId xmlns:a16="http://schemas.microsoft.com/office/drawing/2014/main" id="{CB567B7D-F59E-4D7F-B13E-6A71C3E530E1}"/>
              </a:ext>
            </a:extLst>
          </p:cNvPr>
          <p:cNvSpPr>
            <a:spLocks xmlns:a="http://schemas.openxmlformats.org/drawingml/2006/main" noGrp="1"/>
          </p:cNvSpPr>
          <p:nvPr/>
        </p:nvSpPr>
        <p:spPr>
          <a:xfrm xmlns:a="http://schemas.openxmlformats.org/drawingml/2006/main">
            <a:off x="6267450" y="4552950"/>
            <a:ext cx="2095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FFFFF"/>
                </a:solidFill>
                <a:latin typeface="Aptos"/>
                <a:ea typeface="Aptos"/>
                <a:cs typeface="Aptos"/>
              </a:defRPr>
            </a:pPr>
            <a:r>
              <a:rPr sz="2550" b="1">
                <a:solidFill>
                  <a:srgbClr val="FFFFFF"/>
                </a:solidFill>
                <a:latin typeface="Aptos"/>
                <a:ea typeface="Aptos"/>
                <a:cs typeface="Aptos"/>
              </a:rPr>
              <a:t>Focused</a:t>
            </a:r>
          </a:p>
        </p:txBody>
      </p:sp>
      <p:sp>
        <p:nvSpPr>
          <p:cNvPr id="34" name="">
            <a:extLst xmlns:a="http://schemas.openxmlformats.org/drawingml/2006/main">
              <a:ext uri="{FF2B5EF4-FFF2-40B4-BE49-F238E27FC236}">
                <a16:creationId xmlns:a16="http://schemas.microsoft.com/office/drawing/2014/main" id="{841A301A-BA69-4BA4-B2C0-7AC216B5FA11}"/>
              </a:ext>
            </a:extLst>
          </p:cNvPr>
          <p:cNvSpPr>
            <a:spLocks xmlns:a="http://schemas.openxmlformats.org/drawingml/2006/main" noGrp="1"/>
          </p:cNvSpPr>
          <p:nvPr/>
        </p:nvSpPr>
        <p:spPr>
          <a:xfrm xmlns:a="http://schemas.openxmlformats.org/drawingml/2006/main">
            <a:off x="6267450" y="5067300"/>
            <a:ext cx="2095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7A7B4"/>
                </a:solidFill>
                <a:latin typeface="Aptos"/>
                <a:ea typeface="Aptos"/>
                <a:cs typeface="Aptos"/>
              </a:defRPr>
            </a:pPr>
            <a:r>
              <a:rPr sz="1125" b="0">
                <a:solidFill>
                  <a:srgbClr val="A7A7B4"/>
                </a:solidFill>
                <a:latin typeface="Aptos"/>
                <a:ea typeface="Aptos"/>
                <a:cs typeface="Aptos"/>
              </a:rPr>
              <a:t>Automate routine booking, check-in, and checkout while escalating risky cases.</a:t>
            </a:r>
          </a:p>
        </p:txBody>
      </p:sp>
      <p:sp>
        <p:nvSpPr>
          <p:cNvPr id="35" name="">
            <a:extLst xmlns:a="http://schemas.openxmlformats.org/drawingml/2006/main">
              <a:ext uri="{FF2B5EF4-FFF2-40B4-BE49-F238E27FC236}">
                <a16:creationId xmlns:a16="http://schemas.microsoft.com/office/drawing/2014/main" id="{1EDBC86B-BE7B-4C25-B6FA-0010E5C12E21}"/>
              </a:ext>
            </a:extLst>
          </p:cNvPr>
          <p:cNvSpPr>
            <a:spLocks xmlns:a="http://schemas.openxmlformats.org/drawingml/2006/main" noGrp="1"/>
          </p:cNvSpPr>
          <p:nvPr/>
        </p:nvSpPr>
        <p:spPr>
          <a:xfrm xmlns:a="http://schemas.openxmlformats.org/drawingml/2006/main">
            <a:off x="8839200" y="3905250"/>
            <a:ext cx="2476500" cy="1809750"/>
          </a:xfrm>
          <a:prstGeom xmlns:a="http://schemas.openxmlformats.org/drawingml/2006/main" prst="roundRect">
            <a:avLst>
              <a:gd name="adj" fmla="val 4211"/>
            </a:avLst>
          </a:prstGeom>
          <a:solidFill xmlns:a="http://schemas.openxmlformats.org/drawingml/2006/main">
            <a:srgbClr val="121218"/>
          </a:solidFill>
          <a:ln xmlns:a="http://schemas.openxmlformats.org/drawingml/2006/main" w="9525">
            <a:solidFill>
              <a:srgbClr val="FFFFFF">
                <a:alpha val="9412"/>
              </a:srgbClr>
            </a:solidFill>
            <a:prstDash val="solid"/>
          </a:ln>
        </p:spPr>
      </p:sp>
      <p:sp>
        <p:nvSpPr>
          <p:cNvPr id="36" name="">
            <a:extLst xmlns:a="http://schemas.openxmlformats.org/drawingml/2006/main">
              <a:ext uri="{FF2B5EF4-FFF2-40B4-BE49-F238E27FC236}">
                <a16:creationId xmlns:a16="http://schemas.microsoft.com/office/drawing/2014/main" id="{4DF93410-DFFB-4979-AA65-2C32C973E1EC}"/>
              </a:ext>
            </a:extLst>
          </p:cNvPr>
          <p:cNvSpPr>
            <a:spLocks xmlns:a="http://schemas.openxmlformats.org/drawingml/2006/main" noGrp="1"/>
          </p:cNvSpPr>
          <p:nvPr/>
        </p:nvSpPr>
        <p:spPr>
          <a:xfrm xmlns:a="http://schemas.openxmlformats.org/drawingml/2006/main">
            <a:off x="9029700" y="4076700"/>
            <a:ext cx="400050" cy="38100"/>
          </a:xfrm>
          <a:prstGeom xmlns:a="http://schemas.openxmlformats.org/drawingml/2006/main" prst="roundRect">
            <a:avLst>
              <a:gd name="adj" fmla="val 50000"/>
            </a:avLst>
          </a:prstGeom>
          <a:solidFill xmlns:a="http://schemas.openxmlformats.org/drawingml/2006/main">
            <a:srgbClr val="D8FF6A"/>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595554A7-9E58-4B77-AFD5-862DD5B9E8D5}"/>
              </a:ext>
            </a:extLst>
          </p:cNvPr>
          <p:cNvSpPr>
            <a:spLocks xmlns:a="http://schemas.openxmlformats.org/drawingml/2006/main" noGrp="1"/>
          </p:cNvSpPr>
          <p:nvPr/>
        </p:nvSpPr>
        <p:spPr>
          <a:xfrm xmlns:a="http://schemas.openxmlformats.org/drawingml/2006/main">
            <a:off x="9029700" y="422910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F7080"/>
                </a:solidFill>
                <a:latin typeface="Aptos"/>
                <a:ea typeface="Aptos"/>
                <a:cs typeface="Aptos"/>
              </a:defRPr>
            </a:pPr>
            <a:r>
              <a:rPr sz="975" b="1">
                <a:solidFill>
                  <a:srgbClr val="6F7080"/>
                </a:solidFill>
                <a:latin typeface="Aptos"/>
                <a:ea typeface="Aptos"/>
                <a:cs typeface="Aptos"/>
              </a:rPr>
              <a:t>Constraint</a:t>
            </a:r>
          </a:p>
        </p:txBody>
      </p:sp>
      <p:sp>
        <p:nvSpPr>
          <p:cNvPr id="38" name="">
            <a:extLst xmlns:a="http://schemas.openxmlformats.org/drawingml/2006/main">
              <a:ext uri="{FF2B5EF4-FFF2-40B4-BE49-F238E27FC236}">
                <a16:creationId xmlns:a16="http://schemas.microsoft.com/office/drawing/2014/main" id="{CC293A62-C3B5-4B6D-AC10-D9DF29F245C0}"/>
              </a:ext>
            </a:extLst>
          </p:cNvPr>
          <p:cNvSpPr>
            <a:spLocks xmlns:a="http://schemas.openxmlformats.org/drawingml/2006/main" noGrp="1"/>
          </p:cNvSpPr>
          <p:nvPr/>
        </p:nvSpPr>
        <p:spPr>
          <a:xfrm xmlns:a="http://schemas.openxmlformats.org/drawingml/2006/main">
            <a:off x="9029700" y="4552950"/>
            <a:ext cx="2095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FFFFF"/>
                </a:solidFill>
                <a:latin typeface="Aptos"/>
                <a:ea typeface="Aptos"/>
                <a:cs typeface="Aptos"/>
              </a:defRPr>
            </a:pPr>
            <a:r>
              <a:rPr sz="2550" b="1">
                <a:solidFill>
                  <a:srgbClr val="FFFFFF"/>
                </a:solidFill>
                <a:latin typeface="Aptos"/>
                <a:ea typeface="Aptos"/>
                <a:cs typeface="Aptos"/>
              </a:rPr>
              <a:t>No guessing</a:t>
            </a:r>
          </a:p>
        </p:txBody>
      </p:sp>
      <p:sp>
        <p:nvSpPr>
          <p:cNvPr id="39" name="">
            <a:extLst xmlns:a="http://schemas.openxmlformats.org/drawingml/2006/main">
              <a:ext uri="{FF2B5EF4-FFF2-40B4-BE49-F238E27FC236}">
                <a16:creationId xmlns:a16="http://schemas.microsoft.com/office/drawing/2014/main" id="{C1ECF021-0A7F-463A-A83B-5B941476F442}"/>
              </a:ext>
            </a:extLst>
          </p:cNvPr>
          <p:cNvSpPr>
            <a:spLocks xmlns:a="http://schemas.openxmlformats.org/drawingml/2006/main" noGrp="1"/>
          </p:cNvSpPr>
          <p:nvPr/>
        </p:nvSpPr>
        <p:spPr>
          <a:xfrm xmlns:a="http://schemas.openxmlformats.org/drawingml/2006/main">
            <a:off x="9029700" y="5067300"/>
            <a:ext cx="2095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7A7B4"/>
                </a:solidFill>
                <a:latin typeface="Aptos"/>
                <a:ea typeface="Aptos"/>
                <a:cs typeface="Aptos"/>
              </a:defRPr>
            </a:pPr>
            <a:r>
              <a:rPr sz="1125" b="0">
                <a:solidFill>
                  <a:srgbClr val="A7A7B4"/>
                </a:solidFill>
                <a:latin typeface="Aptos"/>
                <a:ea typeface="Aptos"/>
                <a:cs typeface="Aptos"/>
              </a:rPr>
              <a:t>The AI must use tools for prices, booking IDs, status, and availability.</a:t>
            </a:r>
          </a:p>
        </p:txBody>
      </p:sp>
      <p:sp>
        <p:nvSpPr>
          <p:cNvPr id="40" name="">
            <a:extLst xmlns:a="http://schemas.openxmlformats.org/drawingml/2006/main">
              <a:ext uri="{FF2B5EF4-FFF2-40B4-BE49-F238E27FC236}">
                <a16:creationId xmlns:a16="http://schemas.microsoft.com/office/drawing/2014/main" id="{DF330CF3-6BB8-461A-AE78-B8A5C2821AD7}"/>
              </a:ext>
            </a:extLst>
          </p:cNvPr>
          <p:cNvSpPr>
            <a:spLocks xmlns:a="http://schemas.openxmlformats.org/drawingml/2006/main" noGrp="1"/>
          </p:cNvSpPr>
          <p:nvPr/>
        </p:nvSpPr>
        <p:spPr>
          <a:xfrm xmlns:a="http://schemas.openxmlformats.org/drawingml/2006/main">
            <a:off x="400050" y="6419850"/>
            <a:ext cx="1905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alpha val="53333"/>
                  </a:srgbClr>
                </a:solidFill>
                <a:latin typeface="Aptos"/>
                <a:ea typeface="Aptos"/>
                <a:cs typeface="Aptos"/>
              </a:defRPr>
            </a:pPr>
            <a:r>
              <a:rPr sz="1050" b="1">
                <a:solidFill>
                  <a:srgbClr val="FFFFFF">
                    <a:alpha val="53333"/>
                  </a:srgbClr>
                </a:solidFill>
                <a:latin typeface="Aptos"/>
                <a:ea typeface="Aptos"/>
                <a:cs typeface="Aptos"/>
              </a:rPr>
              <a:t>BookMe</a:t>
            </a:r>
          </a:p>
        </p:txBody>
      </p:sp>
      <p:sp>
        <p:nvSpPr>
          <p:cNvPr id="41" name="">
            <a:extLst xmlns:a="http://schemas.openxmlformats.org/drawingml/2006/main">
              <a:ext uri="{FF2B5EF4-FFF2-40B4-BE49-F238E27FC236}">
                <a16:creationId xmlns:a16="http://schemas.microsoft.com/office/drawing/2014/main" id="{30E4A674-CEB9-4A50-A7DE-2FC4DF52C0F1}"/>
              </a:ext>
            </a:extLst>
          </p:cNvPr>
          <p:cNvSpPr>
            <a:spLocks xmlns:a="http://schemas.openxmlformats.org/drawingml/2006/main" noGrp="1"/>
          </p:cNvSpPr>
          <p:nvPr/>
        </p:nvSpPr>
        <p:spPr>
          <a:xfrm xmlns:a="http://schemas.openxmlformats.org/drawingml/2006/main">
            <a:off x="10858500" y="6419850"/>
            <a:ext cx="914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FFFFFF">
                    <a:alpha val="40000"/>
                  </a:srgbClr>
                </a:solidFill>
                <a:latin typeface="Aptos"/>
                <a:ea typeface="Aptos"/>
                <a:cs typeface="Aptos"/>
              </a:defRPr>
            </a:pPr>
            <a:r>
              <a:rPr sz="975" b="0">
                <a:solidFill>
                  <a:srgbClr val="FFFFFF">
                    <a:alpha val="40000"/>
                  </a:srgbClr>
                </a:solidFill>
                <a:latin typeface="Aptos"/>
                <a:ea typeface="Aptos"/>
                <a:cs typeface="Aptos"/>
              </a:rPr>
              <a:t>02/05</a:t>
            </a:r>
          </a:p>
        </p:txBody>
      </p:sp>
    </p:spTree>
    <p:extLst>
      <p:ext uri="{BB962C8B-B14F-4D97-AF65-F5344CB8AC3E}">
        <p14:creationId xmlns:p14="http://schemas.microsoft.com/office/powerpoint/2010/main" val="133602427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6410843-501C-4BCB-A4E1-6F29ADBC871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70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C475DB3-8D67-4968-AF81-A8703E1D86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1121A"/>
              </a:gs>
              <a:gs pos="42000">
                <a:srgbClr val="07070A"/>
              </a:gs>
              <a:gs pos="100000">
                <a:srgbClr val="100B18"/>
              </a:gs>
            </a:gsLst>
            <a:lin ang="8100000"/>
          </a:gra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75E42BE-F1FC-4B1D-B13C-7AAC869FAE05}"/>
              </a:ext>
            </a:extLst>
          </p:cNvPr>
          <p:cNvSpPr>
            <a:spLocks xmlns:a="http://schemas.openxmlformats.org/drawingml/2006/main" noGrp="1"/>
          </p:cNvSpPr>
          <p:nvPr/>
        </p:nvSpPr>
        <p:spPr>
          <a:xfrm xmlns:a="http://schemas.openxmlformats.org/drawingml/2006/main">
            <a:off x="400050" y="323850"/>
            <a:ext cx="11391900" cy="9525"/>
          </a:xfrm>
          <a:prstGeom xmlns:a="http://schemas.openxmlformats.org/drawingml/2006/main" prst="rect">
            <a:avLst/>
          </a:prstGeom>
          <a:solidFill xmlns:a="http://schemas.openxmlformats.org/drawingml/2006/main">
            <a:srgbClr val="FFFFFF">
              <a:alpha val="9412"/>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6622CF3-EC0F-416A-85D9-75019F840C0A}"/>
              </a:ext>
            </a:extLst>
          </p:cNvPr>
          <p:cNvSpPr>
            <a:spLocks xmlns:a="http://schemas.openxmlformats.org/drawingml/2006/main" noGrp="1"/>
          </p:cNvSpPr>
          <p:nvPr/>
        </p:nvSpPr>
        <p:spPr>
          <a:xfrm xmlns:a="http://schemas.openxmlformats.org/drawingml/2006/main">
            <a:off x="514350" y="590550"/>
            <a:ext cx="495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D8FF6A"/>
                </a:solidFill>
                <a:latin typeface="Aptos"/>
                <a:ea typeface="Aptos"/>
                <a:cs typeface="Aptos"/>
              </a:defRPr>
            </a:pPr>
            <a:r>
              <a:rPr sz="975" b="1">
                <a:solidFill>
                  <a:srgbClr val="D8FF6A"/>
                </a:solidFill>
                <a:latin typeface="Aptos"/>
                <a:ea typeface="Aptos"/>
                <a:cs typeface="Aptos"/>
              </a:rPr>
              <a:t>SOLUTION DESIGN</a:t>
            </a:r>
          </a:p>
        </p:txBody>
      </p:sp>
      <p:sp>
        <p:nvSpPr>
          <p:cNvPr id="5" name="">
            <a:extLst xmlns:a="http://schemas.openxmlformats.org/drawingml/2006/main">
              <a:ext uri="{FF2B5EF4-FFF2-40B4-BE49-F238E27FC236}">
                <a16:creationId xmlns:a16="http://schemas.microsoft.com/office/drawing/2014/main" id="{69F63CCC-8557-44BA-AB71-5C4B66CA53EF}"/>
              </a:ext>
            </a:extLst>
          </p:cNvPr>
          <p:cNvSpPr>
            <a:spLocks xmlns:a="http://schemas.openxmlformats.org/drawingml/2006/main" noGrp="1"/>
          </p:cNvSpPr>
          <p:nvPr/>
        </p:nvSpPr>
        <p:spPr>
          <a:xfrm xmlns:a="http://schemas.openxmlformats.org/drawingml/2006/main">
            <a:off x="514350" y="914400"/>
            <a:ext cx="6667500" cy="169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FFFFF"/>
                </a:solidFill>
                <a:latin typeface="Aptos Display"/>
                <a:ea typeface="Aptos Display"/>
                <a:cs typeface="Aptos Display"/>
              </a:defRPr>
            </a:pPr>
            <a:r>
              <a:rPr sz="3300" b="1">
                <a:solidFill>
                  <a:srgbClr val="FFFFFF"/>
                </a:solidFill>
                <a:latin typeface="Aptos Display"/>
                <a:ea typeface="Aptos Display"/>
                <a:cs typeface="Aptos Display"/>
              </a:rPr>
              <a:t>Natural language on top. Deterministic hotel tools underneath.</a:t>
            </a:r>
          </a:p>
        </p:txBody>
      </p:sp>
      <p:sp>
        <p:nvSpPr>
          <p:cNvPr id="6" name="">
            <a:extLst xmlns:a="http://schemas.openxmlformats.org/drawingml/2006/main">
              <a:ext uri="{FF2B5EF4-FFF2-40B4-BE49-F238E27FC236}">
                <a16:creationId xmlns:a16="http://schemas.microsoft.com/office/drawing/2014/main" id="{B8697115-2748-4CE4-915D-17FF4FDA696B}"/>
              </a:ext>
            </a:extLst>
          </p:cNvPr>
          <p:cNvSpPr>
            <a:spLocks xmlns:a="http://schemas.openxmlformats.org/drawingml/2006/main" noGrp="1"/>
          </p:cNvSpPr>
          <p:nvPr/>
        </p:nvSpPr>
        <p:spPr>
          <a:xfrm xmlns:a="http://schemas.openxmlformats.org/drawingml/2006/main">
            <a:off x="552450" y="2724150"/>
            <a:ext cx="56197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A7A7B4"/>
                </a:solidFill>
                <a:latin typeface="Aptos"/>
                <a:ea typeface="Aptos"/>
                <a:cs typeface="Aptos"/>
              </a:defRPr>
            </a:pPr>
            <a:r>
              <a:rPr sz="1575" b="0">
                <a:solidFill>
                  <a:srgbClr val="A7A7B4"/>
                </a:solidFill>
                <a:latin typeface="Aptos"/>
                <a:ea typeface="Aptos"/>
                <a:cs typeface="Aptos"/>
              </a:rPr>
              <a:t>The model routes intent, asks for missing details, and calls tools. Business state changes happen only through the reservation layer.</a:t>
            </a:r>
          </a:p>
        </p:txBody>
      </p:sp>
      <p:sp>
        <p:nvSpPr>
          <p:cNvPr id="7" name="">
            <a:extLst xmlns:a="http://schemas.openxmlformats.org/drawingml/2006/main">
              <a:ext uri="{FF2B5EF4-FFF2-40B4-BE49-F238E27FC236}">
                <a16:creationId xmlns:a16="http://schemas.microsoft.com/office/drawing/2014/main" id="{CFCE4B1F-E5DA-45A0-8047-59FBDB652296}"/>
              </a:ext>
            </a:extLst>
          </p:cNvPr>
          <p:cNvSpPr>
            <a:spLocks xmlns:a="http://schemas.openxmlformats.org/drawingml/2006/main" noGrp="1"/>
          </p:cNvSpPr>
          <p:nvPr/>
        </p:nvSpPr>
        <p:spPr>
          <a:xfrm xmlns:a="http://schemas.openxmlformats.org/drawingml/2006/main">
            <a:off x="666750" y="3762375"/>
            <a:ext cx="1962150" cy="1428750"/>
          </a:xfrm>
          <a:prstGeom xmlns:a="http://schemas.openxmlformats.org/drawingml/2006/main" prst="roundRect">
            <a:avLst>
              <a:gd name="adj" fmla="val 5333"/>
            </a:avLst>
          </a:prstGeom>
          <a:solidFill xmlns:a="http://schemas.openxmlformats.org/drawingml/2006/main">
            <a:srgbClr val="11121A"/>
          </a:solidFill>
          <a:ln xmlns:a="http://schemas.openxmlformats.org/drawingml/2006/main" w="9525">
            <a:solidFill>
              <a:srgbClr val="FFFFFF">
                <a:alpha val="13333"/>
              </a:srgbClr>
            </a:solidFill>
            <a:prstDash val="solid"/>
          </a:ln>
        </p:spPr>
      </p:sp>
      <p:sp>
        <p:nvSpPr>
          <p:cNvPr id="8" name="">
            <a:extLst xmlns:a="http://schemas.openxmlformats.org/drawingml/2006/main">
              <a:ext uri="{FF2B5EF4-FFF2-40B4-BE49-F238E27FC236}">
                <a16:creationId xmlns:a16="http://schemas.microsoft.com/office/drawing/2014/main" id="{59AF662E-74A4-4D6E-87F4-A890AF10F112}"/>
              </a:ext>
            </a:extLst>
          </p:cNvPr>
          <p:cNvSpPr>
            <a:spLocks xmlns:a="http://schemas.openxmlformats.org/drawingml/2006/main" noGrp="1"/>
          </p:cNvSpPr>
          <p:nvPr/>
        </p:nvSpPr>
        <p:spPr>
          <a:xfrm xmlns:a="http://schemas.openxmlformats.org/drawingml/2006/main">
            <a:off x="838200" y="3933825"/>
            <a:ext cx="342900" cy="38100"/>
          </a:xfrm>
          <a:prstGeom xmlns:a="http://schemas.openxmlformats.org/drawingml/2006/main" prst="roundRect">
            <a:avLst>
              <a:gd name="adj" fmla="val 50000"/>
            </a:avLst>
          </a:prstGeom>
          <a:solidFill xmlns:a="http://schemas.openxmlformats.org/drawingml/2006/main">
            <a:srgbClr val="91C8FF"/>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3192F0C4-389D-4286-A64C-1A6FDA32E36D}"/>
              </a:ext>
            </a:extLst>
          </p:cNvPr>
          <p:cNvSpPr>
            <a:spLocks xmlns:a="http://schemas.openxmlformats.org/drawingml/2006/main" noGrp="1"/>
          </p:cNvSpPr>
          <p:nvPr/>
        </p:nvSpPr>
        <p:spPr>
          <a:xfrm xmlns:a="http://schemas.openxmlformats.org/drawingml/2006/main">
            <a:off x="838200" y="4105275"/>
            <a:ext cx="1619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Guest chat</a:t>
            </a:r>
          </a:p>
        </p:txBody>
      </p:sp>
      <p:sp>
        <p:nvSpPr>
          <p:cNvPr id="10" name="">
            <a:extLst xmlns:a="http://schemas.openxmlformats.org/drawingml/2006/main">
              <a:ext uri="{FF2B5EF4-FFF2-40B4-BE49-F238E27FC236}">
                <a16:creationId xmlns:a16="http://schemas.microsoft.com/office/drawing/2014/main" id="{1EAFC95E-E179-4621-A5A6-9F21328F8AA7}"/>
              </a:ext>
            </a:extLst>
          </p:cNvPr>
          <p:cNvSpPr>
            <a:spLocks xmlns:a="http://schemas.openxmlformats.org/drawingml/2006/main" noGrp="1"/>
          </p:cNvSpPr>
          <p:nvPr/>
        </p:nvSpPr>
        <p:spPr>
          <a:xfrm xmlns:a="http://schemas.openxmlformats.org/drawingml/2006/main">
            <a:off x="838200" y="4467225"/>
            <a:ext cx="1619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7A7B4"/>
                </a:solidFill>
                <a:latin typeface="Aptos"/>
                <a:ea typeface="Aptos"/>
                <a:cs typeface="Aptos"/>
              </a:defRPr>
            </a:pPr>
            <a:r>
              <a:rPr sz="1050" b="0">
                <a:solidFill>
                  <a:srgbClr val="A7A7B4"/>
                </a:solidFill>
                <a:latin typeface="Aptos"/>
                <a:ea typeface="Aptos"/>
                <a:cs typeface="Aptos"/>
              </a:rPr>
              <a:t>Free-form request: booking, check-in, checkout.</a:t>
            </a:r>
          </a:p>
        </p:txBody>
      </p:sp>
      <p:sp>
        <p:nvSpPr>
          <p:cNvPr id="11" name="">
            <a:extLst xmlns:a="http://schemas.openxmlformats.org/drawingml/2006/main">
              <a:ext uri="{FF2B5EF4-FFF2-40B4-BE49-F238E27FC236}">
                <a16:creationId xmlns:a16="http://schemas.microsoft.com/office/drawing/2014/main" id="{0EB5D9F7-D02E-49B5-BB82-772A728193E3}"/>
              </a:ext>
            </a:extLst>
          </p:cNvPr>
          <p:cNvSpPr>
            <a:spLocks xmlns:a="http://schemas.openxmlformats.org/drawingml/2006/main" noGrp="1"/>
          </p:cNvSpPr>
          <p:nvPr/>
        </p:nvSpPr>
        <p:spPr>
          <a:xfrm xmlns:a="http://schemas.openxmlformats.org/drawingml/2006/main">
            <a:off x="3295650" y="3762375"/>
            <a:ext cx="1962150" cy="1428750"/>
          </a:xfrm>
          <a:prstGeom xmlns:a="http://schemas.openxmlformats.org/drawingml/2006/main" prst="roundRect">
            <a:avLst>
              <a:gd name="adj" fmla="val 5333"/>
            </a:avLst>
          </a:prstGeom>
          <a:solidFill xmlns:a="http://schemas.openxmlformats.org/drawingml/2006/main">
            <a:srgbClr val="11121A"/>
          </a:solidFill>
          <a:ln xmlns:a="http://schemas.openxmlformats.org/drawingml/2006/main" w="9525">
            <a:solidFill>
              <a:srgbClr val="FFFFFF">
                <a:alpha val="13333"/>
              </a:srgbClr>
            </a:solidFill>
            <a:prstDash val="solid"/>
          </a:ln>
        </p:spPr>
      </p:sp>
      <p:sp>
        <p:nvSpPr>
          <p:cNvPr id="12" name="">
            <a:extLst xmlns:a="http://schemas.openxmlformats.org/drawingml/2006/main">
              <a:ext uri="{FF2B5EF4-FFF2-40B4-BE49-F238E27FC236}">
                <a16:creationId xmlns:a16="http://schemas.microsoft.com/office/drawing/2014/main" id="{0AB16B2D-BEC2-49F1-8F42-2C79F7403B10}"/>
              </a:ext>
            </a:extLst>
          </p:cNvPr>
          <p:cNvSpPr>
            <a:spLocks xmlns:a="http://schemas.openxmlformats.org/drawingml/2006/main" noGrp="1"/>
          </p:cNvSpPr>
          <p:nvPr/>
        </p:nvSpPr>
        <p:spPr>
          <a:xfrm xmlns:a="http://schemas.openxmlformats.org/drawingml/2006/main">
            <a:off x="3467100" y="3933825"/>
            <a:ext cx="342900" cy="38100"/>
          </a:xfrm>
          <a:prstGeom xmlns:a="http://schemas.openxmlformats.org/drawingml/2006/main" prst="roundRect">
            <a:avLst>
              <a:gd name="adj" fmla="val 50000"/>
            </a:avLst>
          </a:prstGeom>
          <a:solidFill xmlns:a="http://schemas.openxmlformats.org/drawingml/2006/main">
            <a:srgbClr val="D8FF6A"/>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2D57AAA9-14E6-445A-AB99-1CDEA972AD23}"/>
              </a:ext>
            </a:extLst>
          </p:cNvPr>
          <p:cNvSpPr>
            <a:spLocks xmlns:a="http://schemas.openxmlformats.org/drawingml/2006/main" noGrp="1"/>
          </p:cNvSpPr>
          <p:nvPr/>
        </p:nvSpPr>
        <p:spPr>
          <a:xfrm xmlns:a="http://schemas.openxmlformats.org/drawingml/2006/main">
            <a:off x="3467100" y="4105275"/>
            <a:ext cx="1619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LLM router</a:t>
            </a:r>
          </a:p>
        </p:txBody>
      </p:sp>
      <p:sp>
        <p:nvSpPr>
          <p:cNvPr id="14" name="">
            <a:extLst xmlns:a="http://schemas.openxmlformats.org/drawingml/2006/main">
              <a:ext uri="{FF2B5EF4-FFF2-40B4-BE49-F238E27FC236}">
                <a16:creationId xmlns:a16="http://schemas.microsoft.com/office/drawing/2014/main" id="{93087865-80FB-49AF-910D-6A5A0D999623}"/>
              </a:ext>
            </a:extLst>
          </p:cNvPr>
          <p:cNvSpPr>
            <a:spLocks xmlns:a="http://schemas.openxmlformats.org/drawingml/2006/main" noGrp="1"/>
          </p:cNvSpPr>
          <p:nvPr/>
        </p:nvSpPr>
        <p:spPr>
          <a:xfrm xmlns:a="http://schemas.openxmlformats.org/drawingml/2006/main">
            <a:off x="3467100" y="4467225"/>
            <a:ext cx="1619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7A7B4"/>
                </a:solidFill>
                <a:latin typeface="Aptos"/>
                <a:ea typeface="Aptos"/>
                <a:cs typeface="Aptos"/>
              </a:defRPr>
            </a:pPr>
            <a:r>
              <a:rPr sz="1050" b="0">
                <a:solidFill>
                  <a:srgbClr val="A7A7B4"/>
                </a:solidFill>
                <a:latin typeface="Aptos"/>
                <a:ea typeface="Aptos"/>
                <a:cs typeface="Aptos"/>
              </a:rPr>
              <a:t>Classifies intent and asks follow-up questions.</a:t>
            </a:r>
          </a:p>
        </p:txBody>
      </p:sp>
      <p:sp>
        <p:nvSpPr>
          <p:cNvPr id="15" name="">
            <a:extLst xmlns:a="http://schemas.openxmlformats.org/drawingml/2006/main">
              <a:ext uri="{FF2B5EF4-FFF2-40B4-BE49-F238E27FC236}">
                <a16:creationId xmlns:a16="http://schemas.microsoft.com/office/drawing/2014/main" id="{5F5C65D0-6C75-4079-BB7E-730B538C1DAD}"/>
              </a:ext>
            </a:extLst>
          </p:cNvPr>
          <p:cNvSpPr>
            <a:spLocks xmlns:a="http://schemas.openxmlformats.org/drawingml/2006/main" noGrp="1"/>
          </p:cNvSpPr>
          <p:nvPr/>
        </p:nvSpPr>
        <p:spPr>
          <a:xfrm xmlns:a="http://schemas.openxmlformats.org/drawingml/2006/main">
            <a:off x="5924550" y="3762375"/>
            <a:ext cx="2343150" cy="1428750"/>
          </a:xfrm>
          <a:prstGeom xmlns:a="http://schemas.openxmlformats.org/drawingml/2006/main" prst="roundRect">
            <a:avLst>
              <a:gd name="adj" fmla="val 5333"/>
            </a:avLst>
          </a:prstGeom>
          <a:solidFill xmlns:a="http://schemas.openxmlformats.org/drawingml/2006/main">
            <a:srgbClr val="11121A"/>
          </a:solidFill>
          <a:ln xmlns:a="http://schemas.openxmlformats.org/drawingml/2006/main" w="9525">
            <a:solidFill>
              <a:srgbClr val="FFFFFF">
                <a:alpha val="13333"/>
              </a:srgbClr>
            </a:solidFill>
            <a:prstDash val="solid"/>
          </a:ln>
        </p:spPr>
      </p:sp>
      <p:sp>
        <p:nvSpPr>
          <p:cNvPr id="16" name="">
            <a:extLst xmlns:a="http://schemas.openxmlformats.org/drawingml/2006/main">
              <a:ext uri="{FF2B5EF4-FFF2-40B4-BE49-F238E27FC236}">
                <a16:creationId xmlns:a16="http://schemas.microsoft.com/office/drawing/2014/main" id="{E0369D95-D5DF-40AB-89C6-2C7F752F6768}"/>
              </a:ext>
            </a:extLst>
          </p:cNvPr>
          <p:cNvSpPr>
            <a:spLocks xmlns:a="http://schemas.openxmlformats.org/drawingml/2006/main" noGrp="1"/>
          </p:cNvSpPr>
          <p:nvPr/>
        </p:nvSpPr>
        <p:spPr>
          <a:xfrm xmlns:a="http://schemas.openxmlformats.org/drawingml/2006/main">
            <a:off x="6096000" y="3933825"/>
            <a:ext cx="342900" cy="38100"/>
          </a:xfrm>
          <a:prstGeom xmlns:a="http://schemas.openxmlformats.org/drawingml/2006/main" prst="roundRect">
            <a:avLst>
              <a:gd name="adj" fmla="val 50000"/>
            </a:avLst>
          </a:prstGeom>
          <a:solidFill xmlns:a="http://schemas.openxmlformats.org/drawingml/2006/main">
            <a:srgbClr val="91F0B4"/>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5FFD2A87-B429-4472-9220-FA362F7C1F0E}"/>
              </a:ext>
            </a:extLst>
          </p:cNvPr>
          <p:cNvSpPr>
            <a:spLocks xmlns:a="http://schemas.openxmlformats.org/drawingml/2006/main" noGrp="1"/>
          </p:cNvSpPr>
          <p:nvPr/>
        </p:nvSpPr>
        <p:spPr>
          <a:xfrm xmlns:a="http://schemas.openxmlformats.org/drawingml/2006/main">
            <a:off x="6096000" y="4105275"/>
            <a:ext cx="2000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Hotel tools</a:t>
            </a:r>
          </a:p>
        </p:txBody>
      </p:sp>
      <p:sp>
        <p:nvSpPr>
          <p:cNvPr id="18" name="">
            <a:extLst xmlns:a="http://schemas.openxmlformats.org/drawingml/2006/main">
              <a:ext uri="{FF2B5EF4-FFF2-40B4-BE49-F238E27FC236}">
                <a16:creationId xmlns:a16="http://schemas.microsoft.com/office/drawing/2014/main" id="{8574B937-6501-4431-81AB-BF596CB770C6}"/>
              </a:ext>
            </a:extLst>
          </p:cNvPr>
          <p:cNvSpPr>
            <a:spLocks xmlns:a="http://schemas.openxmlformats.org/drawingml/2006/main" noGrp="1"/>
          </p:cNvSpPr>
          <p:nvPr/>
        </p:nvSpPr>
        <p:spPr>
          <a:xfrm xmlns:a="http://schemas.openxmlformats.org/drawingml/2006/main">
            <a:off x="6096000" y="4467225"/>
            <a:ext cx="2000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7A7B4"/>
                </a:solidFill>
                <a:latin typeface="Aptos"/>
                <a:ea typeface="Aptos"/>
                <a:cs typeface="Aptos"/>
              </a:defRPr>
            </a:pPr>
            <a:r>
              <a:rPr sz="1050" b="0">
                <a:solidFill>
                  <a:srgbClr val="A7A7B4"/>
                </a:solidFill>
                <a:latin typeface="Aptos"/>
                <a:ea typeface="Aptos"/>
                <a:cs typeface="Aptos"/>
              </a:rPr>
              <a:t>Lookup, availability, create booking, check-in, checkout.</a:t>
            </a:r>
          </a:p>
        </p:txBody>
      </p:sp>
      <p:sp>
        <p:nvSpPr>
          <p:cNvPr id="19" name="">
            <a:extLst xmlns:a="http://schemas.openxmlformats.org/drawingml/2006/main">
              <a:ext uri="{FF2B5EF4-FFF2-40B4-BE49-F238E27FC236}">
                <a16:creationId xmlns:a16="http://schemas.microsoft.com/office/drawing/2014/main" id="{239C9179-3FCA-4D65-95EE-75259329C111}"/>
              </a:ext>
            </a:extLst>
          </p:cNvPr>
          <p:cNvSpPr>
            <a:spLocks xmlns:a="http://schemas.openxmlformats.org/drawingml/2006/main" noGrp="1"/>
          </p:cNvSpPr>
          <p:nvPr/>
        </p:nvSpPr>
        <p:spPr>
          <a:xfrm xmlns:a="http://schemas.openxmlformats.org/drawingml/2006/main">
            <a:off x="8934450" y="3762375"/>
            <a:ext cx="1962150" cy="1428750"/>
          </a:xfrm>
          <a:prstGeom xmlns:a="http://schemas.openxmlformats.org/drawingml/2006/main" prst="roundRect">
            <a:avLst>
              <a:gd name="adj" fmla="val 5333"/>
            </a:avLst>
          </a:prstGeom>
          <a:solidFill xmlns:a="http://schemas.openxmlformats.org/drawingml/2006/main">
            <a:srgbClr val="11121A"/>
          </a:solidFill>
          <a:ln xmlns:a="http://schemas.openxmlformats.org/drawingml/2006/main" w="9525">
            <a:solidFill>
              <a:srgbClr val="FFFFFF">
                <a:alpha val="13333"/>
              </a:srgbClr>
            </a:solidFill>
            <a:prstDash val="solid"/>
          </a:ln>
        </p:spPr>
      </p:sp>
      <p:sp>
        <p:nvSpPr>
          <p:cNvPr id="20" name="">
            <a:extLst xmlns:a="http://schemas.openxmlformats.org/drawingml/2006/main">
              <a:ext uri="{FF2B5EF4-FFF2-40B4-BE49-F238E27FC236}">
                <a16:creationId xmlns:a16="http://schemas.microsoft.com/office/drawing/2014/main" id="{B6BBE512-25A0-43A2-BF2A-2B6888BEBBF1}"/>
              </a:ext>
            </a:extLst>
          </p:cNvPr>
          <p:cNvSpPr>
            <a:spLocks xmlns:a="http://schemas.openxmlformats.org/drawingml/2006/main" noGrp="1"/>
          </p:cNvSpPr>
          <p:nvPr/>
        </p:nvSpPr>
        <p:spPr>
          <a:xfrm xmlns:a="http://schemas.openxmlformats.org/drawingml/2006/main">
            <a:off x="9105900" y="3933825"/>
            <a:ext cx="342900" cy="38100"/>
          </a:xfrm>
          <a:prstGeom xmlns:a="http://schemas.openxmlformats.org/drawingml/2006/main" prst="roundRect">
            <a:avLst>
              <a:gd name="adj" fmla="val 50000"/>
            </a:avLst>
          </a:prstGeom>
          <a:solidFill xmlns:a="http://schemas.openxmlformats.org/drawingml/2006/main">
            <a:srgbClr val="FFB3C7"/>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C08DA2AC-30AF-4B3D-9B87-2FC02690A771}"/>
              </a:ext>
            </a:extLst>
          </p:cNvPr>
          <p:cNvSpPr>
            <a:spLocks xmlns:a="http://schemas.openxmlformats.org/drawingml/2006/main" noGrp="1"/>
          </p:cNvSpPr>
          <p:nvPr/>
        </p:nvSpPr>
        <p:spPr>
          <a:xfrm xmlns:a="http://schemas.openxmlformats.org/drawingml/2006/main">
            <a:off x="9105900" y="4105275"/>
            <a:ext cx="1619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Staff view</a:t>
            </a:r>
          </a:p>
        </p:txBody>
      </p:sp>
      <p:sp>
        <p:nvSpPr>
          <p:cNvPr id="22" name="">
            <a:extLst xmlns:a="http://schemas.openxmlformats.org/drawingml/2006/main">
              <a:ext uri="{FF2B5EF4-FFF2-40B4-BE49-F238E27FC236}">
                <a16:creationId xmlns:a16="http://schemas.microsoft.com/office/drawing/2014/main" id="{8E4AFA7F-810E-47EE-AB24-7AAF1468F9C6}"/>
              </a:ext>
            </a:extLst>
          </p:cNvPr>
          <p:cNvSpPr>
            <a:spLocks xmlns:a="http://schemas.openxmlformats.org/drawingml/2006/main" noGrp="1"/>
          </p:cNvSpPr>
          <p:nvPr/>
        </p:nvSpPr>
        <p:spPr>
          <a:xfrm xmlns:a="http://schemas.openxmlformats.org/drawingml/2006/main">
            <a:off x="9105900" y="4467225"/>
            <a:ext cx="1619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7A7B4"/>
                </a:solidFill>
                <a:latin typeface="Aptos"/>
                <a:ea typeface="Aptos"/>
                <a:cs typeface="Aptos"/>
              </a:defRPr>
            </a:pPr>
            <a:r>
              <a:rPr sz="1050" b="0">
                <a:solidFill>
                  <a:srgbClr val="A7A7B4"/>
                </a:solidFill>
                <a:latin typeface="Aptos"/>
                <a:ea typeface="Aptos"/>
                <a:cs typeface="Aptos"/>
              </a:rPr>
              <a:t>Admin dashboard and manual override when needed.</a:t>
            </a:r>
          </a:p>
        </p:txBody>
      </p:sp>
      <p:sp>
        <p:nvSpPr>
          <p:cNvPr id="23" name="">
            <a:extLst xmlns:a="http://schemas.openxmlformats.org/drawingml/2006/main">
              <a:ext uri="{FF2B5EF4-FFF2-40B4-BE49-F238E27FC236}">
                <a16:creationId xmlns:a16="http://schemas.microsoft.com/office/drawing/2014/main" id="{757C7324-82C4-421A-8E9A-A5394F9CF2FC}"/>
              </a:ext>
            </a:extLst>
          </p:cNvPr>
          <p:cNvSpPr>
            <a:spLocks xmlns:a="http://schemas.openxmlformats.org/drawingml/2006/main" noGrp="1"/>
          </p:cNvSpPr>
          <p:nvPr/>
        </p:nvSpPr>
        <p:spPr>
          <a:xfrm xmlns:a="http://schemas.openxmlformats.org/drawingml/2006/main">
            <a:off x="2781300" y="4171950"/>
            <a:ext cx="4000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FFFFFF">
                    <a:alpha val="66667"/>
                  </a:srgbClr>
                </a:solidFill>
                <a:latin typeface="Aptos"/>
                <a:ea typeface="Aptos"/>
                <a:cs typeface="Aptos"/>
              </a:defRPr>
            </a:pPr>
            <a:r>
              <a:rPr sz="2550" b="1">
                <a:solidFill>
                  <a:srgbClr val="FFFFFF">
                    <a:alpha val="66667"/>
                  </a:srgbClr>
                </a:solidFill>
                <a:latin typeface="Aptos"/>
                <a:ea typeface="Aptos"/>
                <a:cs typeface="Aptos"/>
              </a:rPr>
              <a:t>→</a:t>
            </a:r>
          </a:p>
        </p:txBody>
      </p:sp>
      <p:sp>
        <p:nvSpPr>
          <p:cNvPr id="24" name="">
            <a:extLst xmlns:a="http://schemas.openxmlformats.org/drawingml/2006/main">
              <a:ext uri="{FF2B5EF4-FFF2-40B4-BE49-F238E27FC236}">
                <a16:creationId xmlns:a16="http://schemas.microsoft.com/office/drawing/2014/main" id="{CD64AB17-1E4F-43BD-8AC6-14C60B130F1F}"/>
              </a:ext>
            </a:extLst>
          </p:cNvPr>
          <p:cNvSpPr>
            <a:spLocks xmlns:a="http://schemas.openxmlformats.org/drawingml/2006/main" noGrp="1"/>
          </p:cNvSpPr>
          <p:nvPr/>
        </p:nvSpPr>
        <p:spPr>
          <a:xfrm xmlns:a="http://schemas.openxmlformats.org/drawingml/2006/main">
            <a:off x="5410200" y="4171950"/>
            <a:ext cx="4000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FFFFFF">
                    <a:alpha val="66667"/>
                  </a:srgbClr>
                </a:solidFill>
                <a:latin typeface="Aptos"/>
                <a:ea typeface="Aptos"/>
                <a:cs typeface="Aptos"/>
              </a:defRPr>
            </a:pPr>
            <a:r>
              <a:rPr sz="2550" b="1">
                <a:solidFill>
                  <a:srgbClr val="FFFFFF">
                    <a:alpha val="66667"/>
                  </a:srgbClr>
                </a:solidFill>
                <a:latin typeface="Aptos"/>
                <a:ea typeface="Aptos"/>
                <a:cs typeface="Aptos"/>
              </a:rPr>
              <a:t>→</a:t>
            </a:r>
          </a:p>
        </p:txBody>
      </p:sp>
      <p:sp>
        <p:nvSpPr>
          <p:cNvPr id="25" name="">
            <a:extLst xmlns:a="http://schemas.openxmlformats.org/drawingml/2006/main">
              <a:ext uri="{FF2B5EF4-FFF2-40B4-BE49-F238E27FC236}">
                <a16:creationId xmlns:a16="http://schemas.microsoft.com/office/drawing/2014/main" id="{0003DCE6-C0BF-4F09-B1AD-6ED373E390F6}"/>
              </a:ext>
            </a:extLst>
          </p:cNvPr>
          <p:cNvSpPr>
            <a:spLocks xmlns:a="http://schemas.openxmlformats.org/drawingml/2006/main" noGrp="1"/>
          </p:cNvSpPr>
          <p:nvPr/>
        </p:nvSpPr>
        <p:spPr>
          <a:xfrm xmlns:a="http://schemas.openxmlformats.org/drawingml/2006/main">
            <a:off x="8420100" y="4171950"/>
            <a:ext cx="4000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FFFFFF">
                    <a:alpha val="66667"/>
                  </a:srgbClr>
                </a:solidFill>
                <a:latin typeface="Aptos"/>
                <a:ea typeface="Aptos"/>
                <a:cs typeface="Aptos"/>
              </a:defRPr>
            </a:pPr>
            <a:r>
              <a:rPr sz="2550" b="1">
                <a:solidFill>
                  <a:srgbClr val="FFFFFF">
                    <a:alpha val="66667"/>
                  </a:srgbClr>
                </a:solidFill>
                <a:latin typeface="Aptos"/>
                <a:ea typeface="Aptos"/>
                <a:cs typeface="Aptos"/>
              </a:rPr>
              <a:t>→</a:t>
            </a:r>
          </a:p>
        </p:txBody>
      </p:sp>
      <p:sp>
        <p:nvSpPr>
          <p:cNvPr id="26" name="">
            <a:extLst xmlns:a="http://schemas.openxmlformats.org/drawingml/2006/main">
              <a:ext uri="{FF2B5EF4-FFF2-40B4-BE49-F238E27FC236}">
                <a16:creationId xmlns:a16="http://schemas.microsoft.com/office/drawing/2014/main" id="{2BE0A19A-3DE4-4DD3-B0A5-F17B31A6298A}"/>
              </a:ext>
            </a:extLst>
          </p:cNvPr>
          <p:cNvSpPr>
            <a:spLocks xmlns:a="http://schemas.openxmlformats.org/drawingml/2006/main" noGrp="1"/>
          </p:cNvSpPr>
          <p:nvPr/>
        </p:nvSpPr>
        <p:spPr>
          <a:xfrm xmlns:a="http://schemas.openxmlformats.org/drawingml/2006/main">
            <a:off x="7239000" y="819150"/>
            <a:ext cx="3714750" cy="2362200"/>
          </a:xfrm>
          <a:prstGeom xmlns:a="http://schemas.openxmlformats.org/drawingml/2006/main" prst="roundRect">
            <a:avLst>
              <a:gd name="adj" fmla="val 3226"/>
            </a:avLst>
          </a:prstGeom>
          <a:solidFill xmlns:a="http://schemas.openxmlformats.org/drawingml/2006/main">
            <a:srgbClr val="FFFFFF">
              <a:alpha val="5098"/>
            </a:srgbClr>
          </a:solidFill>
          <a:ln xmlns:a="http://schemas.openxmlformats.org/drawingml/2006/main" w="9525">
            <a:solidFill>
              <a:srgbClr val="FFFFFF">
                <a:alpha val="13333"/>
              </a:srgbClr>
            </a:solidFill>
            <a:prstDash val="solid"/>
          </a:ln>
        </p:spPr>
      </p:sp>
      <p:sp>
        <p:nvSpPr>
          <p:cNvPr id="27" name="">
            <a:extLst xmlns:a="http://schemas.openxmlformats.org/drawingml/2006/main">
              <a:ext uri="{FF2B5EF4-FFF2-40B4-BE49-F238E27FC236}">
                <a16:creationId xmlns:a16="http://schemas.microsoft.com/office/drawing/2014/main" id="{CE35C9F6-5781-4CC8-A1B2-A8F428383232}"/>
              </a:ext>
            </a:extLst>
          </p:cNvPr>
          <p:cNvSpPr>
            <a:spLocks xmlns:a="http://schemas.openxmlformats.org/drawingml/2006/main" noGrp="1"/>
          </p:cNvSpPr>
          <p:nvPr/>
        </p:nvSpPr>
        <p:spPr>
          <a:xfrm xmlns:a="http://schemas.openxmlformats.org/drawingml/2006/main">
            <a:off x="7524750" y="1066800"/>
            <a:ext cx="3143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Tool contract</a:t>
            </a:r>
          </a:p>
        </p:txBody>
      </p:sp>
      <p:sp>
        <p:nvSpPr>
          <p:cNvPr id="28" name="">
            <a:extLst xmlns:a="http://schemas.openxmlformats.org/drawingml/2006/main">
              <a:ext uri="{FF2B5EF4-FFF2-40B4-BE49-F238E27FC236}">
                <a16:creationId xmlns:a16="http://schemas.microsoft.com/office/drawing/2014/main" id="{1DDA696D-4844-48C2-957E-5324BD1B807C}"/>
              </a:ext>
            </a:extLst>
          </p:cNvPr>
          <p:cNvSpPr>
            <a:spLocks xmlns:a="http://schemas.openxmlformats.org/drawingml/2006/main" noGrp="1"/>
          </p:cNvSpPr>
          <p:nvPr/>
        </p:nvSpPr>
        <p:spPr>
          <a:xfrm xmlns:a="http://schemas.openxmlformats.org/drawingml/2006/main">
            <a:off x="7524750" y="1466850"/>
            <a:ext cx="3009900" cy="228600"/>
          </a:xfrm>
          <a:prstGeom xmlns:a="http://schemas.openxmlformats.org/drawingml/2006/main" prst="roundRect">
            <a:avLst>
              <a:gd name="adj" fmla="val 33333"/>
            </a:avLst>
          </a:prstGeom>
          <a:solidFill xmlns:a="http://schemas.openxmlformats.org/drawingml/2006/main">
            <a:srgbClr val="FFFFFF">
              <a:alpha val="3922"/>
            </a:srgbClr>
          </a:solidFill>
          <a:ln xmlns:a="http://schemas.openxmlformats.org/drawingml/2006/main" w="9525">
            <a:solidFill>
              <a:srgbClr val="FFFFFF">
                <a:alpha val="7059"/>
              </a:srgbClr>
            </a:solidFill>
            <a:prstDash val="solid"/>
          </a:ln>
        </p:spPr>
      </p:sp>
      <p:sp>
        <p:nvSpPr>
          <p:cNvPr id="29" name="">
            <a:extLst xmlns:a="http://schemas.openxmlformats.org/drawingml/2006/main">
              <a:ext uri="{FF2B5EF4-FFF2-40B4-BE49-F238E27FC236}">
                <a16:creationId xmlns:a16="http://schemas.microsoft.com/office/drawing/2014/main" id="{CEAA82EF-72A7-42E0-B801-C9AE658C92D7}"/>
              </a:ext>
            </a:extLst>
          </p:cNvPr>
          <p:cNvSpPr>
            <a:spLocks xmlns:a="http://schemas.openxmlformats.org/drawingml/2006/main" noGrp="1"/>
          </p:cNvSpPr>
          <p:nvPr/>
        </p:nvSpPr>
        <p:spPr>
          <a:xfrm xmlns:a="http://schemas.openxmlformats.org/drawingml/2006/main">
            <a:off x="7639050" y="1504950"/>
            <a:ext cx="2781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FFFFF">
                    <a:alpha val="80000"/>
                  </a:srgbClr>
                </a:solidFill>
                <a:latin typeface="Aptos Mono"/>
                <a:ea typeface="Aptos Mono"/>
                <a:cs typeface="Aptos Mono"/>
              </a:defRPr>
            </a:pPr>
            <a:r>
              <a:rPr sz="900" b="0">
                <a:solidFill>
                  <a:srgbClr val="FFFFFF">
                    <a:alpha val="80000"/>
                  </a:srgbClr>
                </a:solidFill>
                <a:latin typeface="Aptos Mono"/>
                <a:ea typeface="Aptos Mono"/>
                <a:cs typeface="Aptos Mono"/>
              </a:rPr>
              <a:t>lookup_guest(identifier)</a:t>
            </a:r>
          </a:p>
        </p:txBody>
      </p:sp>
      <p:sp>
        <p:nvSpPr>
          <p:cNvPr id="30" name="">
            <a:extLst xmlns:a="http://schemas.openxmlformats.org/drawingml/2006/main">
              <a:ext uri="{FF2B5EF4-FFF2-40B4-BE49-F238E27FC236}">
                <a16:creationId xmlns:a16="http://schemas.microsoft.com/office/drawing/2014/main" id="{3BE0CD3D-8A49-4ED6-A6A7-4933CCFA3D75}"/>
              </a:ext>
            </a:extLst>
          </p:cNvPr>
          <p:cNvSpPr>
            <a:spLocks xmlns:a="http://schemas.openxmlformats.org/drawingml/2006/main" noGrp="1"/>
          </p:cNvSpPr>
          <p:nvPr/>
        </p:nvSpPr>
        <p:spPr>
          <a:xfrm xmlns:a="http://schemas.openxmlformats.org/drawingml/2006/main">
            <a:off x="7524750" y="1771650"/>
            <a:ext cx="3009900" cy="228600"/>
          </a:xfrm>
          <a:prstGeom xmlns:a="http://schemas.openxmlformats.org/drawingml/2006/main" prst="roundRect">
            <a:avLst>
              <a:gd name="adj" fmla="val 33333"/>
            </a:avLst>
          </a:prstGeom>
          <a:solidFill xmlns:a="http://schemas.openxmlformats.org/drawingml/2006/main">
            <a:srgbClr val="FFFFFF">
              <a:alpha val="3922"/>
            </a:srgbClr>
          </a:solidFill>
          <a:ln xmlns:a="http://schemas.openxmlformats.org/drawingml/2006/main" w="9525">
            <a:solidFill>
              <a:srgbClr val="FFFFFF">
                <a:alpha val="7059"/>
              </a:srgbClr>
            </a:solidFill>
            <a:prstDash val="solid"/>
          </a:ln>
        </p:spPr>
      </p:sp>
      <p:sp>
        <p:nvSpPr>
          <p:cNvPr id="31" name="">
            <a:extLst xmlns:a="http://schemas.openxmlformats.org/drawingml/2006/main">
              <a:ext uri="{FF2B5EF4-FFF2-40B4-BE49-F238E27FC236}">
                <a16:creationId xmlns:a16="http://schemas.microsoft.com/office/drawing/2014/main" id="{D2040700-E295-4014-85FF-8A7D35714A37}"/>
              </a:ext>
            </a:extLst>
          </p:cNvPr>
          <p:cNvSpPr>
            <a:spLocks xmlns:a="http://schemas.openxmlformats.org/drawingml/2006/main" noGrp="1"/>
          </p:cNvSpPr>
          <p:nvPr/>
        </p:nvSpPr>
        <p:spPr>
          <a:xfrm xmlns:a="http://schemas.openxmlformats.org/drawingml/2006/main">
            <a:off x="7639050" y="1809750"/>
            <a:ext cx="2781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FFFFF">
                    <a:alpha val="80000"/>
                  </a:srgbClr>
                </a:solidFill>
                <a:latin typeface="Aptos Mono"/>
                <a:ea typeface="Aptos Mono"/>
                <a:cs typeface="Aptos Mono"/>
              </a:defRPr>
            </a:pPr>
            <a:r>
              <a:rPr sz="900" b="0">
                <a:solidFill>
                  <a:srgbClr val="FFFFFF">
                    <a:alpha val="80000"/>
                  </a:srgbClr>
                </a:solidFill>
                <a:latin typeface="Aptos Mono"/>
                <a:ea typeface="Aptos Mono"/>
                <a:cs typeface="Aptos Mono"/>
              </a:rPr>
              <a:t>check_availability(dates, room)</a:t>
            </a:r>
          </a:p>
        </p:txBody>
      </p:sp>
      <p:sp>
        <p:nvSpPr>
          <p:cNvPr id="32" name="">
            <a:extLst xmlns:a="http://schemas.openxmlformats.org/drawingml/2006/main">
              <a:ext uri="{FF2B5EF4-FFF2-40B4-BE49-F238E27FC236}">
                <a16:creationId xmlns:a16="http://schemas.microsoft.com/office/drawing/2014/main" id="{1E96B8E1-F526-4BFF-B558-D34AC52AB128}"/>
              </a:ext>
            </a:extLst>
          </p:cNvPr>
          <p:cNvSpPr>
            <a:spLocks xmlns:a="http://schemas.openxmlformats.org/drawingml/2006/main" noGrp="1"/>
          </p:cNvSpPr>
          <p:nvPr/>
        </p:nvSpPr>
        <p:spPr>
          <a:xfrm xmlns:a="http://schemas.openxmlformats.org/drawingml/2006/main">
            <a:off x="7524750" y="2076450"/>
            <a:ext cx="3009900" cy="228600"/>
          </a:xfrm>
          <a:prstGeom xmlns:a="http://schemas.openxmlformats.org/drawingml/2006/main" prst="roundRect">
            <a:avLst>
              <a:gd name="adj" fmla="val 33333"/>
            </a:avLst>
          </a:prstGeom>
          <a:solidFill xmlns:a="http://schemas.openxmlformats.org/drawingml/2006/main">
            <a:srgbClr val="FFFFFF">
              <a:alpha val="3922"/>
            </a:srgbClr>
          </a:solidFill>
          <a:ln xmlns:a="http://schemas.openxmlformats.org/drawingml/2006/main" w="9525">
            <a:solidFill>
              <a:srgbClr val="FFFFFF">
                <a:alpha val="7059"/>
              </a:srgbClr>
            </a:solidFill>
            <a:prstDash val="solid"/>
          </a:ln>
        </p:spPr>
      </p:sp>
      <p:sp>
        <p:nvSpPr>
          <p:cNvPr id="33" name="">
            <a:extLst xmlns:a="http://schemas.openxmlformats.org/drawingml/2006/main">
              <a:ext uri="{FF2B5EF4-FFF2-40B4-BE49-F238E27FC236}">
                <a16:creationId xmlns:a16="http://schemas.microsoft.com/office/drawing/2014/main" id="{64BC033E-2DDC-41E7-BE33-D6094CE8BA23}"/>
              </a:ext>
            </a:extLst>
          </p:cNvPr>
          <p:cNvSpPr>
            <a:spLocks xmlns:a="http://schemas.openxmlformats.org/drawingml/2006/main" noGrp="1"/>
          </p:cNvSpPr>
          <p:nvPr/>
        </p:nvSpPr>
        <p:spPr>
          <a:xfrm xmlns:a="http://schemas.openxmlformats.org/drawingml/2006/main">
            <a:off x="7639050" y="2114550"/>
            <a:ext cx="2781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D8FF6A"/>
                </a:solidFill>
                <a:latin typeface="Aptos Mono"/>
                <a:ea typeface="Aptos Mono"/>
                <a:cs typeface="Aptos Mono"/>
              </a:defRPr>
            </a:pPr>
            <a:r>
              <a:rPr sz="900" b="0">
                <a:solidFill>
                  <a:srgbClr val="D8FF6A"/>
                </a:solidFill>
                <a:latin typeface="Aptos Mono"/>
                <a:ea typeface="Aptos Mono"/>
                <a:cs typeface="Aptos Mono"/>
              </a:rPr>
              <a:t>create_booking(after confirmation)</a:t>
            </a:r>
          </a:p>
        </p:txBody>
      </p:sp>
      <p:sp>
        <p:nvSpPr>
          <p:cNvPr id="34" name="">
            <a:extLst xmlns:a="http://schemas.openxmlformats.org/drawingml/2006/main">
              <a:ext uri="{FF2B5EF4-FFF2-40B4-BE49-F238E27FC236}">
                <a16:creationId xmlns:a16="http://schemas.microsoft.com/office/drawing/2014/main" id="{EFE4B232-E653-4AD4-8CCE-DD319F0916B6}"/>
              </a:ext>
            </a:extLst>
          </p:cNvPr>
          <p:cNvSpPr>
            <a:spLocks xmlns:a="http://schemas.openxmlformats.org/drawingml/2006/main" noGrp="1"/>
          </p:cNvSpPr>
          <p:nvPr/>
        </p:nvSpPr>
        <p:spPr>
          <a:xfrm xmlns:a="http://schemas.openxmlformats.org/drawingml/2006/main">
            <a:off x="7524750" y="2381250"/>
            <a:ext cx="3009900" cy="228600"/>
          </a:xfrm>
          <a:prstGeom xmlns:a="http://schemas.openxmlformats.org/drawingml/2006/main" prst="roundRect">
            <a:avLst>
              <a:gd name="adj" fmla="val 33333"/>
            </a:avLst>
          </a:prstGeom>
          <a:solidFill xmlns:a="http://schemas.openxmlformats.org/drawingml/2006/main">
            <a:srgbClr val="FFFFFF">
              <a:alpha val="3922"/>
            </a:srgbClr>
          </a:solidFill>
          <a:ln xmlns:a="http://schemas.openxmlformats.org/drawingml/2006/main" w="9525">
            <a:solidFill>
              <a:srgbClr val="FFFFFF">
                <a:alpha val="7059"/>
              </a:srgbClr>
            </a:solidFill>
            <a:prstDash val="solid"/>
          </a:ln>
        </p:spPr>
      </p:sp>
      <p:sp>
        <p:nvSpPr>
          <p:cNvPr id="35" name="">
            <a:extLst xmlns:a="http://schemas.openxmlformats.org/drawingml/2006/main">
              <a:ext uri="{FF2B5EF4-FFF2-40B4-BE49-F238E27FC236}">
                <a16:creationId xmlns:a16="http://schemas.microsoft.com/office/drawing/2014/main" id="{21F7DF70-85BD-4A93-8250-1177A1A8D831}"/>
              </a:ext>
            </a:extLst>
          </p:cNvPr>
          <p:cNvSpPr>
            <a:spLocks xmlns:a="http://schemas.openxmlformats.org/drawingml/2006/main" noGrp="1"/>
          </p:cNvSpPr>
          <p:nvPr/>
        </p:nvSpPr>
        <p:spPr>
          <a:xfrm xmlns:a="http://schemas.openxmlformats.org/drawingml/2006/main">
            <a:off x="7639050" y="2419350"/>
            <a:ext cx="2781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FFFFF">
                    <a:alpha val="80000"/>
                  </a:srgbClr>
                </a:solidFill>
                <a:latin typeface="Aptos Mono"/>
                <a:ea typeface="Aptos Mono"/>
                <a:cs typeface="Aptos Mono"/>
              </a:defRPr>
            </a:pPr>
            <a:r>
              <a:rPr sz="900" b="0">
                <a:solidFill>
                  <a:srgbClr val="FFFFFF">
                    <a:alpha val="80000"/>
                  </a:srgbClr>
                </a:solidFill>
                <a:latin typeface="Aptos Mono"/>
                <a:ea typeface="Aptos Mono"/>
                <a:cs typeface="Aptos Mono"/>
              </a:rPr>
              <a:t>checkin_guest(booking_id)</a:t>
            </a:r>
          </a:p>
        </p:txBody>
      </p:sp>
      <p:sp>
        <p:nvSpPr>
          <p:cNvPr id="36" name="">
            <a:extLst xmlns:a="http://schemas.openxmlformats.org/drawingml/2006/main">
              <a:ext uri="{FF2B5EF4-FFF2-40B4-BE49-F238E27FC236}">
                <a16:creationId xmlns:a16="http://schemas.microsoft.com/office/drawing/2014/main" id="{BE37C760-6175-4B0A-9B63-47A4764B86F4}"/>
              </a:ext>
            </a:extLst>
          </p:cNvPr>
          <p:cNvSpPr>
            <a:spLocks xmlns:a="http://schemas.openxmlformats.org/drawingml/2006/main" noGrp="1"/>
          </p:cNvSpPr>
          <p:nvPr/>
        </p:nvSpPr>
        <p:spPr>
          <a:xfrm xmlns:a="http://schemas.openxmlformats.org/drawingml/2006/main">
            <a:off x="7524750" y="2686050"/>
            <a:ext cx="3009900" cy="228600"/>
          </a:xfrm>
          <a:prstGeom xmlns:a="http://schemas.openxmlformats.org/drawingml/2006/main" prst="roundRect">
            <a:avLst>
              <a:gd name="adj" fmla="val 33333"/>
            </a:avLst>
          </a:prstGeom>
          <a:solidFill xmlns:a="http://schemas.openxmlformats.org/drawingml/2006/main">
            <a:srgbClr val="FFFFFF">
              <a:alpha val="3922"/>
            </a:srgbClr>
          </a:solidFill>
          <a:ln xmlns:a="http://schemas.openxmlformats.org/drawingml/2006/main" w="9525">
            <a:solidFill>
              <a:srgbClr val="FFFFFF">
                <a:alpha val="7059"/>
              </a:srgbClr>
            </a:solidFill>
            <a:prstDash val="solid"/>
          </a:ln>
        </p:spPr>
      </p:sp>
      <p:sp>
        <p:nvSpPr>
          <p:cNvPr id="37" name="">
            <a:extLst xmlns:a="http://schemas.openxmlformats.org/drawingml/2006/main">
              <a:ext uri="{FF2B5EF4-FFF2-40B4-BE49-F238E27FC236}">
                <a16:creationId xmlns:a16="http://schemas.microsoft.com/office/drawing/2014/main" id="{65484934-5CE1-48A7-89EF-08F5BF8F7E6E}"/>
              </a:ext>
            </a:extLst>
          </p:cNvPr>
          <p:cNvSpPr>
            <a:spLocks xmlns:a="http://schemas.openxmlformats.org/drawingml/2006/main" noGrp="1"/>
          </p:cNvSpPr>
          <p:nvPr/>
        </p:nvSpPr>
        <p:spPr>
          <a:xfrm xmlns:a="http://schemas.openxmlformats.org/drawingml/2006/main">
            <a:off x="7639050" y="2724150"/>
            <a:ext cx="2781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FFFFF">
                    <a:alpha val="80000"/>
                  </a:srgbClr>
                </a:solidFill>
                <a:latin typeface="Aptos Mono"/>
                <a:ea typeface="Aptos Mono"/>
                <a:cs typeface="Aptos Mono"/>
              </a:defRPr>
            </a:pPr>
            <a:r>
              <a:rPr sz="900" b="0">
                <a:solidFill>
                  <a:srgbClr val="FFFFFF">
                    <a:alpha val="80000"/>
                  </a:srgbClr>
                </a:solidFill>
                <a:latin typeface="Aptos Mono"/>
                <a:ea typeface="Aptos Mono"/>
                <a:cs typeface="Aptos Mono"/>
              </a:rPr>
              <a:t>checkout_guest(booking_id)</a:t>
            </a:r>
          </a:p>
        </p:txBody>
      </p:sp>
      <p:sp>
        <p:nvSpPr>
          <p:cNvPr id="38" name="">
            <a:extLst xmlns:a="http://schemas.openxmlformats.org/drawingml/2006/main">
              <a:ext uri="{FF2B5EF4-FFF2-40B4-BE49-F238E27FC236}">
                <a16:creationId xmlns:a16="http://schemas.microsoft.com/office/drawing/2014/main" id="{97E84B9E-6D8E-4338-86DD-8D48FF839876}"/>
              </a:ext>
            </a:extLst>
          </p:cNvPr>
          <p:cNvSpPr>
            <a:spLocks xmlns:a="http://schemas.openxmlformats.org/drawingml/2006/main" noGrp="1"/>
          </p:cNvSpPr>
          <p:nvPr/>
        </p:nvSpPr>
        <p:spPr>
          <a:xfrm xmlns:a="http://schemas.openxmlformats.org/drawingml/2006/main">
            <a:off x="400050" y="6419850"/>
            <a:ext cx="1905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alpha val="53333"/>
                  </a:srgbClr>
                </a:solidFill>
                <a:latin typeface="Aptos"/>
                <a:ea typeface="Aptos"/>
                <a:cs typeface="Aptos"/>
              </a:defRPr>
            </a:pPr>
            <a:r>
              <a:rPr sz="1050" b="1">
                <a:solidFill>
                  <a:srgbClr val="FFFFFF">
                    <a:alpha val="53333"/>
                  </a:srgbClr>
                </a:solidFill>
                <a:latin typeface="Aptos"/>
                <a:ea typeface="Aptos"/>
                <a:cs typeface="Aptos"/>
              </a:rPr>
              <a:t>BookMe</a:t>
            </a:r>
          </a:p>
        </p:txBody>
      </p:sp>
      <p:sp>
        <p:nvSpPr>
          <p:cNvPr id="39" name="">
            <a:extLst xmlns:a="http://schemas.openxmlformats.org/drawingml/2006/main">
              <a:ext uri="{FF2B5EF4-FFF2-40B4-BE49-F238E27FC236}">
                <a16:creationId xmlns:a16="http://schemas.microsoft.com/office/drawing/2014/main" id="{329EF505-01D0-4787-96B5-45AB98C08F64}"/>
              </a:ext>
            </a:extLst>
          </p:cNvPr>
          <p:cNvSpPr>
            <a:spLocks xmlns:a="http://schemas.openxmlformats.org/drawingml/2006/main" noGrp="1"/>
          </p:cNvSpPr>
          <p:nvPr/>
        </p:nvSpPr>
        <p:spPr>
          <a:xfrm xmlns:a="http://schemas.openxmlformats.org/drawingml/2006/main">
            <a:off x="10858500" y="6419850"/>
            <a:ext cx="914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FFFFFF">
                    <a:alpha val="40000"/>
                  </a:srgbClr>
                </a:solidFill>
                <a:latin typeface="Aptos"/>
                <a:ea typeface="Aptos"/>
                <a:cs typeface="Aptos"/>
              </a:defRPr>
            </a:pPr>
            <a:r>
              <a:rPr sz="975" b="0">
                <a:solidFill>
                  <a:srgbClr val="FFFFFF">
                    <a:alpha val="40000"/>
                  </a:srgbClr>
                </a:solidFill>
                <a:latin typeface="Aptos"/>
                <a:ea typeface="Aptos"/>
                <a:cs typeface="Aptos"/>
              </a:rPr>
              <a:t>03/05</a:t>
            </a:r>
          </a:p>
        </p:txBody>
      </p:sp>
    </p:spTree>
    <p:extLst>
      <p:ext uri="{BB962C8B-B14F-4D97-AF65-F5344CB8AC3E}">
        <p14:creationId xmlns:p14="http://schemas.microsoft.com/office/powerpoint/2010/main" val="13074763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093ABDB-19A4-4747-8A7A-F9090F7EC97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70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3FE8748-B7E3-44EA-92B6-C27402E6F3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1121A"/>
              </a:gs>
              <a:gs pos="42000">
                <a:srgbClr val="07070A"/>
              </a:gs>
              <a:gs pos="100000">
                <a:srgbClr val="100B18"/>
              </a:gs>
            </a:gsLst>
            <a:lin ang="8100000"/>
          </a:gra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E92E6D9-E553-4370-BA7B-5E9370C569AB}"/>
              </a:ext>
            </a:extLst>
          </p:cNvPr>
          <p:cNvSpPr>
            <a:spLocks xmlns:a="http://schemas.openxmlformats.org/drawingml/2006/main" noGrp="1"/>
          </p:cNvSpPr>
          <p:nvPr/>
        </p:nvSpPr>
        <p:spPr>
          <a:xfrm xmlns:a="http://schemas.openxmlformats.org/drawingml/2006/main">
            <a:off x="400050" y="323850"/>
            <a:ext cx="11391900" cy="9525"/>
          </a:xfrm>
          <a:prstGeom xmlns:a="http://schemas.openxmlformats.org/drawingml/2006/main" prst="rect">
            <a:avLst/>
          </a:prstGeom>
          <a:solidFill xmlns:a="http://schemas.openxmlformats.org/drawingml/2006/main">
            <a:srgbClr val="FFFFFF">
              <a:alpha val="9412"/>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F9CF5B5-9E7A-4106-B445-FF39311E4AF7}"/>
              </a:ext>
            </a:extLst>
          </p:cNvPr>
          <p:cNvSpPr>
            <a:spLocks xmlns:a="http://schemas.openxmlformats.org/drawingml/2006/main" noGrp="1"/>
          </p:cNvSpPr>
          <p:nvPr/>
        </p:nvSpPr>
        <p:spPr>
          <a:xfrm xmlns:a="http://schemas.openxmlformats.org/drawingml/2006/main">
            <a:off x="514350" y="590550"/>
            <a:ext cx="495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D8FF6A"/>
                </a:solidFill>
                <a:latin typeface="Aptos"/>
                <a:ea typeface="Aptos"/>
                <a:cs typeface="Aptos"/>
              </a:defRPr>
            </a:pPr>
            <a:r>
              <a:rPr sz="975" b="1">
                <a:solidFill>
                  <a:srgbClr val="D8FF6A"/>
                </a:solidFill>
                <a:latin typeface="Aptos"/>
                <a:ea typeface="Aptos"/>
                <a:cs typeface="Aptos"/>
              </a:rPr>
              <a:t>EVALUATION</a:t>
            </a:r>
          </a:p>
        </p:txBody>
      </p:sp>
      <p:sp>
        <p:nvSpPr>
          <p:cNvPr id="5" name="">
            <a:extLst xmlns:a="http://schemas.openxmlformats.org/drawingml/2006/main">
              <a:ext uri="{FF2B5EF4-FFF2-40B4-BE49-F238E27FC236}">
                <a16:creationId xmlns:a16="http://schemas.microsoft.com/office/drawing/2014/main" id="{109E0BA0-827C-4D7B-9918-A71A16E1FA08}"/>
              </a:ext>
            </a:extLst>
          </p:cNvPr>
          <p:cNvSpPr>
            <a:spLocks xmlns:a="http://schemas.openxmlformats.org/drawingml/2006/main" noGrp="1"/>
          </p:cNvSpPr>
          <p:nvPr/>
        </p:nvSpPr>
        <p:spPr>
          <a:xfrm xmlns:a="http://schemas.openxmlformats.org/drawingml/2006/main">
            <a:off x="514350" y="933450"/>
            <a:ext cx="7239000" cy="1447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525" b="1">
                <a:solidFill>
                  <a:srgbClr val="FFFFFF"/>
                </a:solidFill>
                <a:latin typeface="Aptos Display"/>
                <a:ea typeface="Aptos Display"/>
                <a:cs typeface="Aptos Display"/>
              </a:defRPr>
            </a:pPr>
            <a:r>
              <a:rPr sz="3525" b="1">
                <a:solidFill>
                  <a:srgbClr val="FFFFFF"/>
                </a:solidFill>
                <a:latin typeface="Aptos Display"/>
                <a:ea typeface="Aptos Display"/>
                <a:cs typeface="Aptos Display"/>
              </a:rPr>
              <a:t>BookMe wins on routine workflows and stops at human-risk boundaries.</a:t>
            </a:r>
          </a:p>
        </p:txBody>
      </p:sp>
      <p:sp>
        <p:nvSpPr>
          <p:cNvPr id="6" name="">
            <a:extLst xmlns:a="http://schemas.openxmlformats.org/drawingml/2006/main">
              <a:ext uri="{FF2B5EF4-FFF2-40B4-BE49-F238E27FC236}">
                <a16:creationId xmlns:a16="http://schemas.microsoft.com/office/drawing/2014/main" id="{37194A61-5738-40E1-95BC-65EBD7A13185}"/>
              </a:ext>
            </a:extLst>
          </p:cNvPr>
          <p:cNvSpPr>
            <a:spLocks xmlns:a="http://schemas.openxmlformats.org/drawingml/2006/main" noGrp="1"/>
          </p:cNvSpPr>
          <p:nvPr/>
        </p:nvSpPr>
        <p:spPr>
          <a:xfrm xmlns:a="http://schemas.openxmlformats.org/drawingml/2006/main">
            <a:off x="552450" y="2476500"/>
            <a:ext cx="8134350" cy="3143250"/>
          </a:xfrm>
          <a:prstGeom xmlns:a="http://schemas.openxmlformats.org/drawingml/2006/main" prst="roundRect">
            <a:avLst>
              <a:gd name="adj" fmla="val 2424"/>
            </a:avLst>
          </a:prstGeom>
          <a:solidFill xmlns:a="http://schemas.openxmlformats.org/drawingml/2006/main">
            <a:srgbClr val="11121A"/>
          </a:solidFill>
          <a:ln xmlns:a="http://schemas.openxmlformats.org/drawingml/2006/main" w="9525">
            <a:solidFill>
              <a:srgbClr val="FFFFFF">
                <a:alpha val="9412"/>
              </a:srgbClr>
            </a:solidFill>
            <a:prstDash val="solid"/>
          </a:ln>
        </p:spPr>
      </p:sp>
      <p:sp>
        <p:nvSpPr>
          <p:cNvPr id="7" name="">
            <a:extLst xmlns:a="http://schemas.openxmlformats.org/drawingml/2006/main">
              <a:ext uri="{FF2B5EF4-FFF2-40B4-BE49-F238E27FC236}">
                <a16:creationId xmlns:a16="http://schemas.microsoft.com/office/drawing/2014/main" id="{197C4DC6-7032-4D14-9FFB-68D24083B277}"/>
              </a:ext>
            </a:extLst>
          </p:cNvPr>
          <p:cNvSpPr>
            <a:spLocks xmlns:a="http://schemas.openxmlformats.org/drawingml/2006/main" noGrp="1"/>
          </p:cNvSpPr>
          <p:nvPr/>
        </p:nvSpPr>
        <p:spPr>
          <a:xfrm xmlns:a="http://schemas.openxmlformats.org/drawingml/2006/main">
            <a:off x="819150" y="2724150"/>
            <a:ext cx="1619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F7080"/>
                </a:solidFill>
                <a:latin typeface="Aptos"/>
                <a:ea typeface="Aptos"/>
                <a:cs typeface="Aptos"/>
              </a:defRPr>
            </a:pPr>
            <a:r>
              <a:rPr sz="900" b="1">
                <a:solidFill>
                  <a:srgbClr val="6F7080"/>
                </a:solidFill>
                <a:latin typeface="Aptos"/>
                <a:ea typeface="Aptos"/>
                <a:cs typeface="Aptos"/>
              </a:rPr>
              <a:t>Test case</a:t>
            </a:r>
          </a:p>
        </p:txBody>
      </p:sp>
      <p:sp>
        <p:nvSpPr>
          <p:cNvPr id="8" name="">
            <a:extLst xmlns:a="http://schemas.openxmlformats.org/drawingml/2006/main">
              <a:ext uri="{FF2B5EF4-FFF2-40B4-BE49-F238E27FC236}">
                <a16:creationId xmlns:a16="http://schemas.microsoft.com/office/drawing/2014/main" id="{9E5F4662-F336-477E-89E4-724B1614AB10}"/>
              </a:ext>
            </a:extLst>
          </p:cNvPr>
          <p:cNvSpPr>
            <a:spLocks xmlns:a="http://schemas.openxmlformats.org/drawingml/2006/main" noGrp="1"/>
          </p:cNvSpPr>
          <p:nvPr/>
        </p:nvSpPr>
        <p:spPr>
          <a:xfrm xmlns:a="http://schemas.openxmlformats.org/drawingml/2006/main">
            <a:off x="2762250" y="2724150"/>
            <a:ext cx="1695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F7080"/>
                </a:solidFill>
                <a:latin typeface="Aptos"/>
                <a:ea typeface="Aptos"/>
                <a:cs typeface="Aptos"/>
              </a:defRPr>
            </a:pPr>
            <a:r>
              <a:rPr sz="900" b="1">
                <a:solidFill>
                  <a:srgbClr val="6F7080"/>
                </a:solidFill>
                <a:latin typeface="Aptos"/>
                <a:ea typeface="Aptos"/>
                <a:cs typeface="Aptos"/>
              </a:rPr>
              <a:t>Baseline</a:t>
            </a:r>
          </a:p>
        </p:txBody>
      </p:sp>
      <p:sp>
        <p:nvSpPr>
          <p:cNvPr id="9" name="">
            <a:extLst xmlns:a="http://schemas.openxmlformats.org/drawingml/2006/main">
              <a:ext uri="{FF2B5EF4-FFF2-40B4-BE49-F238E27FC236}">
                <a16:creationId xmlns:a16="http://schemas.microsoft.com/office/drawing/2014/main" id="{7FFE8100-0AD9-42E0-95D4-667FDA55D602}"/>
              </a:ext>
            </a:extLst>
          </p:cNvPr>
          <p:cNvSpPr>
            <a:spLocks xmlns:a="http://schemas.openxmlformats.org/drawingml/2006/main" noGrp="1"/>
          </p:cNvSpPr>
          <p:nvPr/>
        </p:nvSpPr>
        <p:spPr>
          <a:xfrm xmlns:a="http://schemas.openxmlformats.org/drawingml/2006/main">
            <a:off x="4819650" y="272415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F7080"/>
                </a:solidFill>
                <a:latin typeface="Aptos"/>
                <a:ea typeface="Aptos"/>
                <a:cs typeface="Aptos"/>
              </a:defRPr>
            </a:pPr>
            <a:r>
              <a:rPr sz="900" b="1">
                <a:solidFill>
                  <a:srgbClr val="6F7080"/>
                </a:solidFill>
                <a:latin typeface="Aptos"/>
                <a:ea typeface="Aptos"/>
                <a:cs typeface="Aptos"/>
              </a:rPr>
              <a:t>BookMe behavior</a:t>
            </a:r>
          </a:p>
        </p:txBody>
      </p:sp>
      <p:sp>
        <p:nvSpPr>
          <p:cNvPr id="10" name="">
            <a:extLst xmlns:a="http://schemas.openxmlformats.org/drawingml/2006/main">
              <a:ext uri="{FF2B5EF4-FFF2-40B4-BE49-F238E27FC236}">
                <a16:creationId xmlns:a16="http://schemas.microsoft.com/office/drawing/2014/main" id="{ADC710F1-094A-4F7E-81C0-D0C7F799C19F}"/>
              </a:ext>
            </a:extLst>
          </p:cNvPr>
          <p:cNvSpPr>
            <a:spLocks xmlns:a="http://schemas.openxmlformats.org/drawingml/2006/main" noGrp="1"/>
          </p:cNvSpPr>
          <p:nvPr/>
        </p:nvSpPr>
        <p:spPr>
          <a:xfrm xmlns:a="http://schemas.openxmlformats.org/drawingml/2006/main">
            <a:off x="7696200" y="2724150"/>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F7080"/>
                </a:solidFill>
                <a:latin typeface="Aptos"/>
                <a:ea typeface="Aptos"/>
                <a:cs typeface="Aptos"/>
              </a:defRPr>
            </a:pPr>
            <a:r>
              <a:rPr sz="900" b="1">
                <a:solidFill>
                  <a:srgbClr val="6F7080"/>
                </a:solidFill>
                <a:latin typeface="Aptos"/>
                <a:ea typeface="Aptos"/>
                <a:cs typeface="Aptos"/>
              </a:rPr>
              <a:t>Result</a:t>
            </a:r>
          </a:p>
        </p:txBody>
      </p:sp>
      <p:sp>
        <p:nvSpPr>
          <p:cNvPr id="11" name="">
            <a:extLst xmlns:a="http://schemas.openxmlformats.org/drawingml/2006/main">
              <a:ext uri="{FF2B5EF4-FFF2-40B4-BE49-F238E27FC236}">
                <a16:creationId xmlns:a16="http://schemas.microsoft.com/office/drawing/2014/main" id="{B88C9AEE-7291-4942-A950-EA50FB3F0075}"/>
              </a:ext>
            </a:extLst>
          </p:cNvPr>
          <p:cNvSpPr>
            <a:spLocks xmlns:a="http://schemas.openxmlformats.org/drawingml/2006/main" noGrp="1"/>
          </p:cNvSpPr>
          <p:nvPr/>
        </p:nvSpPr>
        <p:spPr>
          <a:xfrm xmlns:a="http://schemas.openxmlformats.org/drawingml/2006/main">
            <a:off x="742950" y="3009900"/>
            <a:ext cx="7658100" cy="9525"/>
          </a:xfrm>
          <a:prstGeom xmlns:a="http://schemas.openxmlformats.org/drawingml/2006/main" prst="rect">
            <a:avLst/>
          </a:prstGeom>
          <a:solidFill xmlns:a="http://schemas.openxmlformats.org/drawingml/2006/main">
            <a:srgbClr val="FFFFFF">
              <a:alpha val="6275"/>
            </a:srgbClr>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F364124B-86ED-46F2-A016-2B22E55DB4AB}"/>
              </a:ext>
            </a:extLst>
          </p:cNvPr>
          <p:cNvSpPr>
            <a:spLocks xmlns:a="http://schemas.openxmlformats.org/drawingml/2006/main" noGrp="1"/>
          </p:cNvSpPr>
          <p:nvPr/>
        </p:nvSpPr>
        <p:spPr>
          <a:xfrm xmlns:a="http://schemas.openxmlformats.org/drawingml/2006/main">
            <a:off x="819150" y="3086100"/>
            <a:ext cx="1619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Valid check-in</a:t>
            </a:r>
          </a:p>
        </p:txBody>
      </p:sp>
      <p:sp>
        <p:nvSpPr>
          <p:cNvPr id="13" name="">
            <a:extLst xmlns:a="http://schemas.openxmlformats.org/drawingml/2006/main">
              <a:ext uri="{FF2B5EF4-FFF2-40B4-BE49-F238E27FC236}">
                <a16:creationId xmlns:a16="http://schemas.microsoft.com/office/drawing/2014/main" id="{77F88AE6-2075-4D61-8994-8F7C7C0FB215}"/>
              </a:ext>
            </a:extLst>
          </p:cNvPr>
          <p:cNvSpPr>
            <a:spLocks xmlns:a="http://schemas.openxmlformats.org/drawingml/2006/main" noGrp="1"/>
          </p:cNvSpPr>
          <p:nvPr/>
        </p:nvSpPr>
        <p:spPr>
          <a:xfrm xmlns:a="http://schemas.openxmlformats.org/drawingml/2006/main">
            <a:off x="2762250" y="3086100"/>
            <a:ext cx="1695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7A7B4"/>
                </a:solidFill>
                <a:latin typeface="Aptos"/>
                <a:ea typeface="Aptos"/>
                <a:cs typeface="Aptos"/>
              </a:defRPr>
            </a:pPr>
            <a:r>
              <a:rPr sz="1050" b="0">
                <a:solidFill>
                  <a:srgbClr val="A7A7B4"/>
                </a:solidFill>
                <a:latin typeface="Aptos"/>
                <a:ea typeface="Aptos"/>
                <a:cs typeface="Aptos"/>
              </a:rPr>
              <a:t>Manual sheet lookup</a:t>
            </a:r>
          </a:p>
        </p:txBody>
      </p:sp>
      <p:sp>
        <p:nvSpPr>
          <p:cNvPr id="14" name="">
            <a:extLst xmlns:a="http://schemas.openxmlformats.org/drawingml/2006/main">
              <a:ext uri="{FF2B5EF4-FFF2-40B4-BE49-F238E27FC236}">
                <a16:creationId xmlns:a16="http://schemas.microsoft.com/office/drawing/2014/main" id="{097A7FB7-6281-40C8-B3B9-39573BE48250}"/>
              </a:ext>
            </a:extLst>
          </p:cNvPr>
          <p:cNvSpPr>
            <a:spLocks xmlns:a="http://schemas.openxmlformats.org/drawingml/2006/main" noGrp="1"/>
          </p:cNvSpPr>
          <p:nvPr/>
        </p:nvSpPr>
        <p:spPr>
          <a:xfrm xmlns:a="http://schemas.openxmlformats.org/drawingml/2006/main">
            <a:off x="4819650" y="3086100"/>
            <a:ext cx="2476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7A7B4"/>
                </a:solidFill>
                <a:latin typeface="Aptos"/>
                <a:ea typeface="Aptos"/>
                <a:cs typeface="Aptos"/>
              </a:defRPr>
            </a:pPr>
            <a:r>
              <a:rPr sz="1050" b="0">
                <a:solidFill>
                  <a:srgbClr val="A7A7B4"/>
                </a:solidFill>
                <a:latin typeface="Aptos"/>
                <a:ea typeface="Aptos"/>
                <a:cs typeface="Aptos"/>
              </a:rPr>
              <a:t>Reservation verified; status updated</a:t>
            </a:r>
          </a:p>
        </p:txBody>
      </p:sp>
      <p:sp>
        <p:nvSpPr>
          <p:cNvPr id="15" name="">
            <a:extLst xmlns:a="http://schemas.openxmlformats.org/drawingml/2006/main">
              <a:ext uri="{FF2B5EF4-FFF2-40B4-BE49-F238E27FC236}">
                <a16:creationId xmlns:a16="http://schemas.microsoft.com/office/drawing/2014/main" id="{A4015138-048C-42FD-A799-B2339F853AF9}"/>
              </a:ext>
            </a:extLst>
          </p:cNvPr>
          <p:cNvSpPr>
            <a:spLocks xmlns:a="http://schemas.openxmlformats.org/drawingml/2006/main" noGrp="1"/>
          </p:cNvSpPr>
          <p:nvPr/>
        </p:nvSpPr>
        <p:spPr>
          <a:xfrm xmlns:a="http://schemas.openxmlformats.org/drawingml/2006/main">
            <a:off x="7696200" y="3086100"/>
            <a:ext cx="704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91F0B4"/>
                </a:solidFill>
                <a:latin typeface="Aptos"/>
                <a:ea typeface="Aptos"/>
                <a:cs typeface="Aptos"/>
              </a:defRPr>
            </a:pPr>
            <a:r>
              <a:rPr sz="975" b="1">
                <a:solidFill>
                  <a:srgbClr val="91F0B4"/>
                </a:solidFill>
                <a:latin typeface="Aptos"/>
                <a:ea typeface="Aptos"/>
                <a:cs typeface="Aptos"/>
              </a:rPr>
              <a:t>Pass</a:t>
            </a:r>
          </a:p>
        </p:txBody>
      </p:sp>
      <p:sp>
        <p:nvSpPr>
          <p:cNvPr id="16" name="">
            <a:extLst xmlns:a="http://schemas.openxmlformats.org/drawingml/2006/main">
              <a:ext uri="{FF2B5EF4-FFF2-40B4-BE49-F238E27FC236}">
                <a16:creationId xmlns:a16="http://schemas.microsoft.com/office/drawing/2014/main" id="{EF6F8CBB-921F-4A74-9F73-B165839209A8}"/>
              </a:ext>
            </a:extLst>
          </p:cNvPr>
          <p:cNvSpPr>
            <a:spLocks xmlns:a="http://schemas.openxmlformats.org/drawingml/2006/main" noGrp="1"/>
          </p:cNvSpPr>
          <p:nvPr/>
        </p:nvSpPr>
        <p:spPr>
          <a:xfrm xmlns:a="http://schemas.openxmlformats.org/drawingml/2006/main">
            <a:off x="742950" y="3390900"/>
            <a:ext cx="7658100" cy="9525"/>
          </a:xfrm>
          <a:prstGeom xmlns:a="http://schemas.openxmlformats.org/drawingml/2006/main" prst="rect">
            <a:avLst/>
          </a:prstGeom>
          <a:solidFill xmlns:a="http://schemas.openxmlformats.org/drawingml/2006/main">
            <a:srgbClr val="FFFFFF">
              <a:alpha val="6275"/>
            </a:srgbClr>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D92AB302-7CD6-4DFC-A823-F7E878A38B8D}"/>
              </a:ext>
            </a:extLst>
          </p:cNvPr>
          <p:cNvSpPr>
            <a:spLocks xmlns:a="http://schemas.openxmlformats.org/drawingml/2006/main" noGrp="1"/>
          </p:cNvSpPr>
          <p:nvPr/>
        </p:nvSpPr>
        <p:spPr>
          <a:xfrm xmlns:a="http://schemas.openxmlformats.org/drawingml/2006/main">
            <a:off x="819150" y="3467100"/>
            <a:ext cx="1619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Checkout</a:t>
            </a:r>
          </a:p>
        </p:txBody>
      </p:sp>
      <p:sp>
        <p:nvSpPr>
          <p:cNvPr id="18" name="">
            <a:extLst xmlns:a="http://schemas.openxmlformats.org/drawingml/2006/main">
              <a:ext uri="{FF2B5EF4-FFF2-40B4-BE49-F238E27FC236}">
                <a16:creationId xmlns:a16="http://schemas.microsoft.com/office/drawing/2014/main" id="{BE278650-0EA1-44E9-A9D2-66C1AEA7BA10}"/>
              </a:ext>
            </a:extLst>
          </p:cNvPr>
          <p:cNvSpPr>
            <a:spLocks xmlns:a="http://schemas.openxmlformats.org/drawingml/2006/main" noGrp="1"/>
          </p:cNvSpPr>
          <p:nvPr/>
        </p:nvSpPr>
        <p:spPr>
          <a:xfrm xmlns:a="http://schemas.openxmlformats.org/drawingml/2006/main">
            <a:off x="2762250" y="3467100"/>
            <a:ext cx="1695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7A7B4"/>
                </a:solidFill>
                <a:latin typeface="Aptos"/>
                <a:ea typeface="Aptos"/>
                <a:cs typeface="Aptos"/>
              </a:defRPr>
            </a:pPr>
            <a:r>
              <a:rPr sz="1050" b="0">
                <a:solidFill>
                  <a:srgbClr val="A7A7B4"/>
                </a:solidFill>
                <a:latin typeface="Aptos"/>
                <a:ea typeface="Aptos"/>
                <a:cs typeface="Aptos"/>
              </a:rPr>
              <a:t>Staff closes stay</a:t>
            </a:r>
          </a:p>
        </p:txBody>
      </p:sp>
      <p:sp>
        <p:nvSpPr>
          <p:cNvPr id="19" name="">
            <a:extLst xmlns:a="http://schemas.openxmlformats.org/drawingml/2006/main">
              <a:ext uri="{FF2B5EF4-FFF2-40B4-BE49-F238E27FC236}">
                <a16:creationId xmlns:a16="http://schemas.microsoft.com/office/drawing/2014/main" id="{320D62F5-FEAD-4E13-97B7-21411B738B1B}"/>
              </a:ext>
            </a:extLst>
          </p:cNvPr>
          <p:cNvSpPr>
            <a:spLocks xmlns:a="http://schemas.openxmlformats.org/drawingml/2006/main" noGrp="1"/>
          </p:cNvSpPr>
          <p:nvPr/>
        </p:nvSpPr>
        <p:spPr>
          <a:xfrm xmlns:a="http://schemas.openxmlformats.org/drawingml/2006/main">
            <a:off x="4819650" y="3467100"/>
            <a:ext cx="2476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7A7B4"/>
                </a:solidFill>
                <a:latin typeface="Aptos"/>
                <a:ea typeface="Aptos"/>
                <a:cs typeface="Aptos"/>
              </a:defRPr>
            </a:pPr>
            <a:r>
              <a:rPr sz="1050" b="0">
                <a:solidFill>
                  <a:srgbClr val="A7A7B4"/>
                </a:solidFill>
                <a:latin typeface="Aptos"/>
                <a:ea typeface="Aptos"/>
                <a:cs typeface="Aptos"/>
              </a:rPr>
              <a:t>Receipt-style summary returned</a:t>
            </a:r>
          </a:p>
        </p:txBody>
      </p:sp>
      <p:sp>
        <p:nvSpPr>
          <p:cNvPr id="20" name="">
            <a:extLst xmlns:a="http://schemas.openxmlformats.org/drawingml/2006/main">
              <a:ext uri="{FF2B5EF4-FFF2-40B4-BE49-F238E27FC236}">
                <a16:creationId xmlns:a16="http://schemas.microsoft.com/office/drawing/2014/main" id="{E9CD0276-935D-4C92-8A87-4ECC6D279D2D}"/>
              </a:ext>
            </a:extLst>
          </p:cNvPr>
          <p:cNvSpPr>
            <a:spLocks xmlns:a="http://schemas.openxmlformats.org/drawingml/2006/main" noGrp="1"/>
          </p:cNvSpPr>
          <p:nvPr/>
        </p:nvSpPr>
        <p:spPr>
          <a:xfrm xmlns:a="http://schemas.openxmlformats.org/drawingml/2006/main">
            <a:off x="7696200" y="3467100"/>
            <a:ext cx="704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91F0B4"/>
                </a:solidFill>
                <a:latin typeface="Aptos"/>
                <a:ea typeface="Aptos"/>
                <a:cs typeface="Aptos"/>
              </a:defRPr>
            </a:pPr>
            <a:r>
              <a:rPr sz="975" b="1">
                <a:solidFill>
                  <a:srgbClr val="91F0B4"/>
                </a:solidFill>
                <a:latin typeface="Aptos"/>
                <a:ea typeface="Aptos"/>
                <a:cs typeface="Aptos"/>
              </a:rPr>
              <a:t>Pass</a:t>
            </a:r>
          </a:p>
        </p:txBody>
      </p:sp>
      <p:sp>
        <p:nvSpPr>
          <p:cNvPr id="21" name="">
            <a:extLst xmlns:a="http://schemas.openxmlformats.org/drawingml/2006/main">
              <a:ext uri="{FF2B5EF4-FFF2-40B4-BE49-F238E27FC236}">
                <a16:creationId xmlns:a16="http://schemas.microsoft.com/office/drawing/2014/main" id="{0AB69EBD-9CB7-4726-8165-AF5DDE8F72F0}"/>
              </a:ext>
            </a:extLst>
          </p:cNvPr>
          <p:cNvSpPr>
            <a:spLocks xmlns:a="http://schemas.openxmlformats.org/drawingml/2006/main" noGrp="1"/>
          </p:cNvSpPr>
          <p:nvPr/>
        </p:nvSpPr>
        <p:spPr>
          <a:xfrm xmlns:a="http://schemas.openxmlformats.org/drawingml/2006/main">
            <a:off x="742950" y="3771900"/>
            <a:ext cx="7658100" cy="9525"/>
          </a:xfrm>
          <a:prstGeom xmlns:a="http://schemas.openxmlformats.org/drawingml/2006/main" prst="rect">
            <a:avLst/>
          </a:prstGeom>
          <a:solidFill xmlns:a="http://schemas.openxmlformats.org/drawingml/2006/main">
            <a:srgbClr val="FFFFFF">
              <a:alpha val="6275"/>
            </a:srgbClr>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CBC1EE23-BAC5-4361-87B2-036B59DAAEB3}"/>
              </a:ext>
            </a:extLst>
          </p:cNvPr>
          <p:cNvSpPr>
            <a:spLocks xmlns:a="http://schemas.openxmlformats.org/drawingml/2006/main" noGrp="1"/>
          </p:cNvSpPr>
          <p:nvPr/>
        </p:nvSpPr>
        <p:spPr>
          <a:xfrm xmlns:a="http://schemas.openxmlformats.org/drawingml/2006/main">
            <a:off x="819150" y="3848100"/>
            <a:ext cx="1619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Availability question</a:t>
            </a:r>
          </a:p>
        </p:txBody>
      </p:sp>
      <p:sp>
        <p:nvSpPr>
          <p:cNvPr id="23" name="">
            <a:extLst xmlns:a="http://schemas.openxmlformats.org/drawingml/2006/main">
              <a:ext uri="{FF2B5EF4-FFF2-40B4-BE49-F238E27FC236}">
                <a16:creationId xmlns:a16="http://schemas.microsoft.com/office/drawing/2014/main" id="{B414E04E-DA5E-40F3-8762-FD77883F7A17}"/>
              </a:ext>
            </a:extLst>
          </p:cNvPr>
          <p:cNvSpPr>
            <a:spLocks xmlns:a="http://schemas.openxmlformats.org/drawingml/2006/main" noGrp="1"/>
          </p:cNvSpPr>
          <p:nvPr/>
        </p:nvSpPr>
        <p:spPr>
          <a:xfrm xmlns:a="http://schemas.openxmlformats.org/drawingml/2006/main">
            <a:off x="2762250" y="3848100"/>
            <a:ext cx="1695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7A7B4"/>
                </a:solidFill>
                <a:latin typeface="Aptos"/>
                <a:ea typeface="Aptos"/>
                <a:cs typeface="Aptos"/>
              </a:defRPr>
            </a:pPr>
            <a:r>
              <a:rPr sz="1050" b="0">
                <a:solidFill>
                  <a:srgbClr val="A7A7B4"/>
                </a:solidFill>
                <a:latin typeface="Aptos"/>
                <a:ea typeface="Aptos"/>
                <a:cs typeface="Aptos"/>
              </a:rPr>
              <a:t>Form or phone call</a:t>
            </a:r>
          </a:p>
        </p:txBody>
      </p:sp>
      <p:sp>
        <p:nvSpPr>
          <p:cNvPr id="24" name="">
            <a:extLst xmlns:a="http://schemas.openxmlformats.org/drawingml/2006/main">
              <a:ext uri="{FF2B5EF4-FFF2-40B4-BE49-F238E27FC236}">
                <a16:creationId xmlns:a16="http://schemas.microsoft.com/office/drawing/2014/main" id="{AC687478-DF69-4FBE-9C90-1A072D3DD82E}"/>
              </a:ext>
            </a:extLst>
          </p:cNvPr>
          <p:cNvSpPr>
            <a:spLocks xmlns:a="http://schemas.openxmlformats.org/drawingml/2006/main" noGrp="1"/>
          </p:cNvSpPr>
          <p:nvPr/>
        </p:nvSpPr>
        <p:spPr>
          <a:xfrm xmlns:a="http://schemas.openxmlformats.org/drawingml/2006/main">
            <a:off x="4819650" y="3848100"/>
            <a:ext cx="2476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7A7B4"/>
                </a:solidFill>
                <a:latin typeface="Aptos"/>
                <a:ea typeface="Aptos"/>
                <a:cs typeface="Aptos"/>
              </a:defRPr>
            </a:pPr>
            <a:r>
              <a:rPr sz="1050" b="0">
                <a:solidFill>
                  <a:srgbClr val="A7A7B4"/>
                </a:solidFill>
                <a:latin typeface="Aptos"/>
                <a:ea typeface="Aptos"/>
                <a:cs typeface="Aptos"/>
              </a:rPr>
              <a:t>Dates parsed; rate quoted</a:t>
            </a:r>
          </a:p>
        </p:txBody>
      </p:sp>
      <p:sp>
        <p:nvSpPr>
          <p:cNvPr id="25" name="">
            <a:extLst xmlns:a="http://schemas.openxmlformats.org/drawingml/2006/main">
              <a:ext uri="{FF2B5EF4-FFF2-40B4-BE49-F238E27FC236}">
                <a16:creationId xmlns:a16="http://schemas.microsoft.com/office/drawing/2014/main" id="{77DED435-0B02-410A-A633-3067CE688563}"/>
              </a:ext>
            </a:extLst>
          </p:cNvPr>
          <p:cNvSpPr>
            <a:spLocks xmlns:a="http://schemas.openxmlformats.org/drawingml/2006/main" noGrp="1"/>
          </p:cNvSpPr>
          <p:nvPr/>
        </p:nvSpPr>
        <p:spPr>
          <a:xfrm xmlns:a="http://schemas.openxmlformats.org/drawingml/2006/main">
            <a:off x="7696200" y="3848100"/>
            <a:ext cx="704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91F0B4"/>
                </a:solidFill>
                <a:latin typeface="Aptos"/>
                <a:ea typeface="Aptos"/>
                <a:cs typeface="Aptos"/>
              </a:defRPr>
            </a:pPr>
            <a:r>
              <a:rPr sz="975" b="1">
                <a:solidFill>
                  <a:srgbClr val="91F0B4"/>
                </a:solidFill>
                <a:latin typeface="Aptos"/>
                <a:ea typeface="Aptos"/>
                <a:cs typeface="Aptos"/>
              </a:rPr>
              <a:t>Pass</a:t>
            </a:r>
          </a:p>
        </p:txBody>
      </p:sp>
      <p:sp>
        <p:nvSpPr>
          <p:cNvPr id="26" name="">
            <a:extLst xmlns:a="http://schemas.openxmlformats.org/drawingml/2006/main">
              <a:ext uri="{FF2B5EF4-FFF2-40B4-BE49-F238E27FC236}">
                <a16:creationId xmlns:a16="http://schemas.microsoft.com/office/drawing/2014/main" id="{9BC81F84-EF14-4560-B763-618094041B41}"/>
              </a:ext>
            </a:extLst>
          </p:cNvPr>
          <p:cNvSpPr>
            <a:spLocks xmlns:a="http://schemas.openxmlformats.org/drawingml/2006/main" noGrp="1"/>
          </p:cNvSpPr>
          <p:nvPr/>
        </p:nvSpPr>
        <p:spPr>
          <a:xfrm xmlns:a="http://schemas.openxmlformats.org/drawingml/2006/main">
            <a:off x="742950" y="4152900"/>
            <a:ext cx="7658100" cy="9525"/>
          </a:xfrm>
          <a:prstGeom xmlns:a="http://schemas.openxmlformats.org/drawingml/2006/main" prst="rect">
            <a:avLst/>
          </a:prstGeom>
          <a:solidFill xmlns:a="http://schemas.openxmlformats.org/drawingml/2006/main">
            <a:srgbClr val="FFFFFF">
              <a:alpha val="6275"/>
            </a:srgbClr>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8CA57C7F-B897-429F-BB70-3F76D377558E}"/>
              </a:ext>
            </a:extLst>
          </p:cNvPr>
          <p:cNvSpPr>
            <a:spLocks xmlns:a="http://schemas.openxmlformats.org/drawingml/2006/main" noGrp="1"/>
          </p:cNvSpPr>
          <p:nvPr/>
        </p:nvSpPr>
        <p:spPr>
          <a:xfrm xmlns:a="http://schemas.openxmlformats.org/drawingml/2006/main">
            <a:off x="819150" y="4229100"/>
            <a:ext cx="1619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Bad booking ID</a:t>
            </a:r>
          </a:p>
        </p:txBody>
      </p:sp>
      <p:sp>
        <p:nvSpPr>
          <p:cNvPr id="28" name="">
            <a:extLst xmlns:a="http://schemas.openxmlformats.org/drawingml/2006/main">
              <a:ext uri="{FF2B5EF4-FFF2-40B4-BE49-F238E27FC236}">
                <a16:creationId xmlns:a16="http://schemas.microsoft.com/office/drawing/2014/main" id="{4B61DAAA-46A2-4E88-8FCE-20BE1316D692}"/>
              </a:ext>
            </a:extLst>
          </p:cNvPr>
          <p:cNvSpPr>
            <a:spLocks xmlns:a="http://schemas.openxmlformats.org/drawingml/2006/main" noGrp="1"/>
          </p:cNvSpPr>
          <p:nvPr/>
        </p:nvSpPr>
        <p:spPr>
          <a:xfrm xmlns:a="http://schemas.openxmlformats.org/drawingml/2006/main">
            <a:off x="2762250" y="4229100"/>
            <a:ext cx="1695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7A7B4"/>
                </a:solidFill>
                <a:latin typeface="Aptos"/>
                <a:ea typeface="Aptos"/>
                <a:cs typeface="Aptos"/>
              </a:defRPr>
            </a:pPr>
            <a:r>
              <a:rPr sz="1050" b="0">
                <a:solidFill>
                  <a:srgbClr val="A7A7B4"/>
                </a:solidFill>
                <a:latin typeface="Aptos"/>
                <a:ea typeface="Aptos"/>
                <a:cs typeface="Aptos"/>
              </a:rPr>
              <a:t>Staff searches manually</a:t>
            </a:r>
          </a:p>
        </p:txBody>
      </p:sp>
      <p:sp>
        <p:nvSpPr>
          <p:cNvPr id="29" name="">
            <a:extLst xmlns:a="http://schemas.openxmlformats.org/drawingml/2006/main">
              <a:ext uri="{FF2B5EF4-FFF2-40B4-BE49-F238E27FC236}">
                <a16:creationId xmlns:a16="http://schemas.microsoft.com/office/drawing/2014/main" id="{E1C6914F-9D2C-438D-9EF1-2DFD672280EE}"/>
              </a:ext>
            </a:extLst>
          </p:cNvPr>
          <p:cNvSpPr>
            <a:spLocks xmlns:a="http://schemas.openxmlformats.org/drawingml/2006/main" noGrp="1"/>
          </p:cNvSpPr>
          <p:nvPr/>
        </p:nvSpPr>
        <p:spPr>
          <a:xfrm xmlns:a="http://schemas.openxmlformats.org/drawingml/2006/main">
            <a:off x="4819650" y="4229100"/>
            <a:ext cx="2476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7A7B4"/>
                </a:solidFill>
                <a:latin typeface="Aptos"/>
                <a:ea typeface="Aptos"/>
                <a:cs typeface="Aptos"/>
              </a:defRPr>
            </a:pPr>
            <a:r>
              <a:rPr sz="1050" b="0">
                <a:solidFill>
                  <a:srgbClr val="A7A7B4"/>
                </a:solidFill>
                <a:latin typeface="Aptos"/>
                <a:ea typeface="Aptos"/>
                <a:cs typeface="Aptos"/>
              </a:rPr>
              <a:t>No match; asks for better identifier</a:t>
            </a:r>
          </a:p>
        </p:txBody>
      </p:sp>
      <p:sp>
        <p:nvSpPr>
          <p:cNvPr id="30" name="">
            <a:extLst xmlns:a="http://schemas.openxmlformats.org/drawingml/2006/main">
              <a:ext uri="{FF2B5EF4-FFF2-40B4-BE49-F238E27FC236}">
                <a16:creationId xmlns:a16="http://schemas.microsoft.com/office/drawing/2014/main" id="{75F7CA59-5393-4769-A819-5A18C0432209}"/>
              </a:ext>
            </a:extLst>
          </p:cNvPr>
          <p:cNvSpPr>
            <a:spLocks xmlns:a="http://schemas.openxmlformats.org/drawingml/2006/main" noGrp="1"/>
          </p:cNvSpPr>
          <p:nvPr/>
        </p:nvSpPr>
        <p:spPr>
          <a:xfrm xmlns:a="http://schemas.openxmlformats.org/drawingml/2006/main">
            <a:off x="7696200" y="4229100"/>
            <a:ext cx="704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91F0B4"/>
                </a:solidFill>
                <a:latin typeface="Aptos"/>
                <a:ea typeface="Aptos"/>
                <a:cs typeface="Aptos"/>
              </a:defRPr>
            </a:pPr>
            <a:r>
              <a:rPr sz="975" b="1">
                <a:solidFill>
                  <a:srgbClr val="91F0B4"/>
                </a:solidFill>
                <a:latin typeface="Aptos"/>
                <a:ea typeface="Aptos"/>
                <a:cs typeface="Aptos"/>
              </a:rPr>
              <a:t>Pass</a:t>
            </a:r>
          </a:p>
        </p:txBody>
      </p:sp>
      <p:sp>
        <p:nvSpPr>
          <p:cNvPr id="31" name="">
            <a:extLst xmlns:a="http://schemas.openxmlformats.org/drawingml/2006/main">
              <a:ext uri="{FF2B5EF4-FFF2-40B4-BE49-F238E27FC236}">
                <a16:creationId xmlns:a16="http://schemas.microsoft.com/office/drawing/2014/main" id="{2CA2FFBB-B2D6-4872-982F-044C2939AA35}"/>
              </a:ext>
            </a:extLst>
          </p:cNvPr>
          <p:cNvSpPr>
            <a:spLocks xmlns:a="http://schemas.openxmlformats.org/drawingml/2006/main" noGrp="1"/>
          </p:cNvSpPr>
          <p:nvPr/>
        </p:nvSpPr>
        <p:spPr>
          <a:xfrm xmlns:a="http://schemas.openxmlformats.org/drawingml/2006/main">
            <a:off x="742950" y="4533900"/>
            <a:ext cx="7658100" cy="9525"/>
          </a:xfrm>
          <a:prstGeom xmlns:a="http://schemas.openxmlformats.org/drawingml/2006/main" prst="rect">
            <a:avLst/>
          </a:prstGeom>
          <a:solidFill xmlns:a="http://schemas.openxmlformats.org/drawingml/2006/main">
            <a:srgbClr val="FFFFFF">
              <a:alpha val="6275"/>
            </a:srgbClr>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4F5D0BBA-DD89-4768-8D4C-AE7DAF219993}"/>
              </a:ext>
            </a:extLst>
          </p:cNvPr>
          <p:cNvSpPr>
            <a:spLocks xmlns:a="http://schemas.openxmlformats.org/drawingml/2006/main" noGrp="1"/>
          </p:cNvSpPr>
          <p:nvPr/>
        </p:nvSpPr>
        <p:spPr>
          <a:xfrm xmlns:a="http://schemas.openxmlformats.org/drawingml/2006/main">
            <a:off x="819150" y="4610100"/>
            <a:ext cx="1619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Past-date booking</a:t>
            </a:r>
          </a:p>
        </p:txBody>
      </p:sp>
      <p:sp>
        <p:nvSpPr>
          <p:cNvPr id="33" name="">
            <a:extLst xmlns:a="http://schemas.openxmlformats.org/drawingml/2006/main">
              <a:ext uri="{FF2B5EF4-FFF2-40B4-BE49-F238E27FC236}">
                <a16:creationId xmlns:a16="http://schemas.microsoft.com/office/drawing/2014/main" id="{A14BE865-0277-4CBA-B2B1-A43E0FC05C9B}"/>
              </a:ext>
            </a:extLst>
          </p:cNvPr>
          <p:cNvSpPr>
            <a:spLocks xmlns:a="http://schemas.openxmlformats.org/drawingml/2006/main" noGrp="1"/>
          </p:cNvSpPr>
          <p:nvPr/>
        </p:nvSpPr>
        <p:spPr>
          <a:xfrm xmlns:a="http://schemas.openxmlformats.org/drawingml/2006/main">
            <a:off x="2762250" y="4610100"/>
            <a:ext cx="1695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7A7B4"/>
                </a:solidFill>
                <a:latin typeface="Aptos"/>
                <a:ea typeface="Aptos"/>
                <a:cs typeface="Aptos"/>
              </a:defRPr>
            </a:pPr>
            <a:r>
              <a:rPr sz="1050" b="0">
                <a:solidFill>
                  <a:srgbClr val="A7A7B4"/>
                </a:solidFill>
                <a:latin typeface="Aptos"/>
                <a:ea typeface="Aptos"/>
                <a:cs typeface="Aptos"/>
              </a:rPr>
              <a:t>Staff judgment</a:t>
            </a:r>
          </a:p>
        </p:txBody>
      </p:sp>
      <p:sp>
        <p:nvSpPr>
          <p:cNvPr id="34" name="">
            <a:extLst xmlns:a="http://schemas.openxmlformats.org/drawingml/2006/main">
              <a:ext uri="{FF2B5EF4-FFF2-40B4-BE49-F238E27FC236}">
                <a16:creationId xmlns:a16="http://schemas.microsoft.com/office/drawing/2014/main" id="{48364C35-3E93-4B4E-8494-8241B0AB66C2}"/>
              </a:ext>
            </a:extLst>
          </p:cNvPr>
          <p:cNvSpPr>
            <a:spLocks xmlns:a="http://schemas.openxmlformats.org/drawingml/2006/main" noGrp="1"/>
          </p:cNvSpPr>
          <p:nvPr/>
        </p:nvSpPr>
        <p:spPr>
          <a:xfrm xmlns:a="http://schemas.openxmlformats.org/drawingml/2006/main">
            <a:off x="4819650" y="4610100"/>
            <a:ext cx="2476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7A7B4"/>
                </a:solidFill>
                <a:latin typeface="Aptos"/>
                <a:ea typeface="Aptos"/>
                <a:cs typeface="Aptos"/>
              </a:defRPr>
            </a:pPr>
            <a:r>
              <a:rPr sz="1050" b="0">
                <a:solidFill>
                  <a:srgbClr val="A7A7B4"/>
                </a:solidFill>
                <a:latin typeface="Aptos"/>
                <a:ea typeface="Aptos"/>
                <a:cs typeface="Aptos"/>
              </a:rPr>
              <a:t>Refuses invalid start date</a:t>
            </a:r>
          </a:p>
        </p:txBody>
      </p:sp>
      <p:sp>
        <p:nvSpPr>
          <p:cNvPr id="35" name="">
            <a:extLst xmlns:a="http://schemas.openxmlformats.org/drawingml/2006/main">
              <a:ext uri="{FF2B5EF4-FFF2-40B4-BE49-F238E27FC236}">
                <a16:creationId xmlns:a16="http://schemas.microsoft.com/office/drawing/2014/main" id="{143D959E-BDA1-4807-8C7F-D1A84FBFD0F0}"/>
              </a:ext>
            </a:extLst>
          </p:cNvPr>
          <p:cNvSpPr>
            <a:spLocks xmlns:a="http://schemas.openxmlformats.org/drawingml/2006/main" noGrp="1"/>
          </p:cNvSpPr>
          <p:nvPr/>
        </p:nvSpPr>
        <p:spPr>
          <a:xfrm xmlns:a="http://schemas.openxmlformats.org/drawingml/2006/main">
            <a:off x="7696200" y="4610100"/>
            <a:ext cx="704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91F0B4"/>
                </a:solidFill>
                <a:latin typeface="Aptos"/>
                <a:ea typeface="Aptos"/>
                <a:cs typeface="Aptos"/>
              </a:defRPr>
            </a:pPr>
            <a:r>
              <a:rPr sz="975" b="1">
                <a:solidFill>
                  <a:srgbClr val="91F0B4"/>
                </a:solidFill>
                <a:latin typeface="Aptos"/>
                <a:ea typeface="Aptos"/>
                <a:cs typeface="Aptos"/>
              </a:rPr>
              <a:t>Pass</a:t>
            </a:r>
          </a:p>
        </p:txBody>
      </p:sp>
      <p:sp>
        <p:nvSpPr>
          <p:cNvPr id="36" name="">
            <a:extLst xmlns:a="http://schemas.openxmlformats.org/drawingml/2006/main">
              <a:ext uri="{FF2B5EF4-FFF2-40B4-BE49-F238E27FC236}">
                <a16:creationId xmlns:a16="http://schemas.microsoft.com/office/drawing/2014/main" id="{5E92F67F-52D5-4DFC-B410-0CBF941D4F2A}"/>
              </a:ext>
            </a:extLst>
          </p:cNvPr>
          <p:cNvSpPr>
            <a:spLocks xmlns:a="http://schemas.openxmlformats.org/drawingml/2006/main" noGrp="1"/>
          </p:cNvSpPr>
          <p:nvPr/>
        </p:nvSpPr>
        <p:spPr>
          <a:xfrm xmlns:a="http://schemas.openxmlformats.org/drawingml/2006/main">
            <a:off x="742950" y="4914900"/>
            <a:ext cx="7658100" cy="9525"/>
          </a:xfrm>
          <a:prstGeom xmlns:a="http://schemas.openxmlformats.org/drawingml/2006/main" prst="rect">
            <a:avLst/>
          </a:prstGeom>
          <a:solidFill xmlns:a="http://schemas.openxmlformats.org/drawingml/2006/main">
            <a:srgbClr val="FFFFFF">
              <a:alpha val="6275"/>
            </a:srgbClr>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F1E77662-89BF-4ADC-AC4C-FC6E82BDAE06}"/>
              </a:ext>
            </a:extLst>
          </p:cNvPr>
          <p:cNvSpPr>
            <a:spLocks xmlns:a="http://schemas.openxmlformats.org/drawingml/2006/main" noGrp="1"/>
          </p:cNvSpPr>
          <p:nvPr/>
        </p:nvSpPr>
        <p:spPr>
          <a:xfrm xmlns:a="http://schemas.openxmlformats.org/drawingml/2006/main">
            <a:off x="819150" y="4991100"/>
            <a:ext cx="1619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Refund / dispute</a:t>
            </a:r>
          </a:p>
        </p:txBody>
      </p:sp>
      <p:sp>
        <p:nvSpPr>
          <p:cNvPr id="38" name="">
            <a:extLst xmlns:a="http://schemas.openxmlformats.org/drawingml/2006/main">
              <a:ext uri="{FF2B5EF4-FFF2-40B4-BE49-F238E27FC236}">
                <a16:creationId xmlns:a16="http://schemas.microsoft.com/office/drawing/2014/main" id="{ABA53BAB-3A92-428B-9D7C-99B80741DE68}"/>
              </a:ext>
            </a:extLst>
          </p:cNvPr>
          <p:cNvSpPr>
            <a:spLocks xmlns:a="http://schemas.openxmlformats.org/drawingml/2006/main" noGrp="1"/>
          </p:cNvSpPr>
          <p:nvPr/>
        </p:nvSpPr>
        <p:spPr>
          <a:xfrm xmlns:a="http://schemas.openxmlformats.org/drawingml/2006/main">
            <a:off x="2762250" y="4991100"/>
            <a:ext cx="1695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7A7B4"/>
                </a:solidFill>
                <a:latin typeface="Aptos"/>
                <a:ea typeface="Aptos"/>
                <a:cs typeface="Aptos"/>
              </a:defRPr>
            </a:pPr>
            <a:r>
              <a:rPr sz="1050" b="0">
                <a:solidFill>
                  <a:srgbClr val="A7A7B4"/>
                </a:solidFill>
                <a:latin typeface="Aptos"/>
                <a:ea typeface="Aptos"/>
                <a:cs typeface="Aptos"/>
              </a:rPr>
              <a:t>Manager handles</a:t>
            </a:r>
          </a:p>
        </p:txBody>
      </p:sp>
      <p:sp>
        <p:nvSpPr>
          <p:cNvPr id="39" name="">
            <a:extLst xmlns:a="http://schemas.openxmlformats.org/drawingml/2006/main">
              <a:ext uri="{FF2B5EF4-FFF2-40B4-BE49-F238E27FC236}">
                <a16:creationId xmlns:a16="http://schemas.microsoft.com/office/drawing/2014/main" id="{5BACC4D8-475C-4375-90A0-DDB6DECC9DEB}"/>
              </a:ext>
            </a:extLst>
          </p:cNvPr>
          <p:cNvSpPr>
            <a:spLocks xmlns:a="http://schemas.openxmlformats.org/drawingml/2006/main" noGrp="1"/>
          </p:cNvSpPr>
          <p:nvPr/>
        </p:nvSpPr>
        <p:spPr>
          <a:xfrm xmlns:a="http://schemas.openxmlformats.org/drawingml/2006/main">
            <a:off x="4819650" y="4991100"/>
            <a:ext cx="2476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7A7B4"/>
                </a:solidFill>
                <a:latin typeface="Aptos"/>
                <a:ea typeface="Aptos"/>
                <a:cs typeface="Aptos"/>
              </a:defRPr>
            </a:pPr>
            <a:r>
              <a:rPr sz="1050" b="0">
                <a:solidFill>
                  <a:srgbClr val="A7A7B4"/>
                </a:solidFill>
                <a:latin typeface="Aptos"/>
                <a:ea typeface="Aptos"/>
                <a:cs typeface="Aptos"/>
              </a:rPr>
              <a:t>Escalates to staff</a:t>
            </a:r>
          </a:p>
        </p:txBody>
      </p:sp>
      <p:sp>
        <p:nvSpPr>
          <p:cNvPr id="40" name="">
            <a:extLst xmlns:a="http://schemas.openxmlformats.org/drawingml/2006/main">
              <a:ext uri="{FF2B5EF4-FFF2-40B4-BE49-F238E27FC236}">
                <a16:creationId xmlns:a16="http://schemas.microsoft.com/office/drawing/2014/main" id="{A4389C7D-275C-423B-85D5-B6C4CA7EBF65}"/>
              </a:ext>
            </a:extLst>
          </p:cNvPr>
          <p:cNvSpPr>
            <a:spLocks xmlns:a="http://schemas.openxmlformats.org/drawingml/2006/main" noGrp="1"/>
          </p:cNvSpPr>
          <p:nvPr/>
        </p:nvSpPr>
        <p:spPr>
          <a:xfrm xmlns:a="http://schemas.openxmlformats.org/drawingml/2006/main">
            <a:off x="7696200" y="4991100"/>
            <a:ext cx="704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FB3C7"/>
                </a:solidFill>
                <a:latin typeface="Aptos"/>
                <a:ea typeface="Aptos"/>
                <a:cs typeface="Aptos"/>
              </a:defRPr>
            </a:pPr>
            <a:r>
              <a:rPr sz="975" b="1">
                <a:solidFill>
                  <a:srgbClr val="FFB3C7"/>
                </a:solidFill>
                <a:latin typeface="Aptos"/>
                <a:ea typeface="Aptos"/>
                <a:cs typeface="Aptos"/>
              </a:rPr>
              <a:t>Human</a:t>
            </a:r>
          </a:p>
        </p:txBody>
      </p:sp>
      <p:sp>
        <p:nvSpPr>
          <p:cNvPr id="41" name="">
            <a:extLst xmlns:a="http://schemas.openxmlformats.org/drawingml/2006/main">
              <a:ext uri="{FF2B5EF4-FFF2-40B4-BE49-F238E27FC236}">
                <a16:creationId xmlns:a16="http://schemas.microsoft.com/office/drawing/2014/main" id="{0B9C69E9-BBAE-458B-AB19-92782DB17FA4}"/>
              </a:ext>
            </a:extLst>
          </p:cNvPr>
          <p:cNvSpPr>
            <a:spLocks xmlns:a="http://schemas.openxmlformats.org/drawingml/2006/main" noGrp="1"/>
          </p:cNvSpPr>
          <p:nvPr/>
        </p:nvSpPr>
        <p:spPr>
          <a:xfrm xmlns:a="http://schemas.openxmlformats.org/drawingml/2006/main">
            <a:off x="9105900" y="2476500"/>
            <a:ext cx="2133600" cy="3143250"/>
          </a:xfrm>
          <a:prstGeom xmlns:a="http://schemas.openxmlformats.org/drawingml/2006/main" prst="roundRect">
            <a:avLst>
              <a:gd name="adj" fmla="val 3571"/>
            </a:avLst>
          </a:prstGeom>
          <a:solidFill xmlns:a="http://schemas.openxmlformats.org/drawingml/2006/main">
            <a:srgbClr val="FFFFFF">
              <a:alpha val="5098"/>
            </a:srgbClr>
          </a:solidFill>
          <a:ln xmlns:a="http://schemas.openxmlformats.org/drawingml/2006/main" w="9525">
            <a:solidFill>
              <a:srgbClr val="FFFFFF">
                <a:alpha val="13333"/>
              </a:srgbClr>
            </a:solidFill>
            <a:prstDash val="solid"/>
          </a:ln>
        </p:spPr>
      </p:sp>
      <p:sp>
        <p:nvSpPr>
          <p:cNvPr id="42" name="">
            <a:extLst xmlns:a="http://schemas.openxmlformats.org/drawingml/2006/main">
              <a:ext uri="{FF2B5EF4-FFF2-40B4-BE49-F238E27FC236}">
                <a16:creationId xmlns:a16="http://schemas.microsoft.com/office/drawing/2014/main" id="{63248DE3-B827-439D-BEA5-9FD1D948EC32}"/>
              </a:ext>
            </a:extLst>
          </p:cNvPr>
          <p:cNvSpPr>
            <a:spLocks xmlns:a="http://schemas.openxmlformats.org/drawingml/2006/main" noGrp="1"/>
          </p:cNvSpPr>
          <p:nvPr/>
        </p:nvSpPr>
        <p:spPr>
          <a:xfrm xmlns:a="http://schemas.openxmlformats.org/drawingml/2006/main">
            <a:off x="9372600" y="2781300"/>
            <a:ext cx="1619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What worked</a:t>
            </a:r>
          </a:p>
        </p:txBody>
      </p:sp>
      <p:sp>
        <p:nvSpPr>
          <p:cNvPr id="43" name="">
            <a:extLst xmlns:a="http://schemas.openxmlformats.org/drawingml/2006/main">
              <a:ext uri="{FF2B5EF4-FFF2-40B4-BE49-F238E27FC236}">
                <a16:creationId xmlns:a16="http://schemas.microsoft.com/office/drawing/2014/main" id="{08D97996-8573-4444-832F-D92B62B99F1C}"/>
              </a:ext>
            </a:extLst>
          </p:cNvPr>
          <p:cNvSpPr>
            <a:spLocks xmlns:a="http://schemas.openxmlformats.org/drawingml/2006/main" noGrp="1"/>
          </p:cNvSpPr>
          <p:nvPr/>
        </p:nvSpPr>
        <p:spPr>
          <a:xfrm xmlns:a="http://schemas.openxmlformats.org/drawingml/2006/main">
            <a:off x="9372600" y="3276600"/>
            <a:ext cx="16002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91F0B4"/>
                </a:solidFill>
                <a:latin typeface="Aptos"/>
                <a:ea typeface="Aptos"/>
                <a:cs typeface="Aptos"/>
              </a:defRPr>
            </a:pPr>
            <a:r>
              <a:rPr sz="1275" b="1">
                <a:solidFill>
                  <a:srgbClr val="91F0B4"/>
                </a:solidFill>
                <a:latin typeface="Aptos"/>
                <a:ea typeface="Aptos"/>
                <a:cs typeface="Aptos"/>
              </a:rPr>
              <a:t>Routine requests with clear reservation data.</a:t>
            </a:r>
          </a:p>
        </p:txBody>
      </p:sp>
      <p:sp>
        <p:nvSpPr>
          <p:cNvPr id="44" name="">
            <a:extLst xmlns:a="http://schemas.openxmlformats.org/drawingml/2006/main">
              <a:ext uri="{FF2B5EF4-FFF2-40B4-BE49-F238E27FC236}">
                <a16:creationId xmlns:a16="http://schemas.microsoft.com/office/drawing/2014/main" id="{DFFD216A-F823-4986-8DFE-9C0B7C45E698}"/>
              </a:ext>
            </a:extLst>
          </p:cNvPr>
          <p:cNvSpPr>
            <a:spLocks xmlns:a="http://schemas.openxmlformats.org/drawingml/2006/main" noGrp="1"/>
          </p:cNvSpPr>
          <p:nvPr/>
        </p:nvSpPr>
        <p:spPr>
          <a:xfrm xmlns:a="http://schemas.openxmlformats.org/drawingml/2006/main">
            <a:off x="9372600" y="4210050"/>
            <a:ext cx="1619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Where humans stay in</a:t>
            </a:r>
          </a:p>
        </p:txBody>
      </p:sp>
      <p:sp>
        <p:nvSpPr>
          <p:cNvPr id="45" name="">
            <a:extLst xmlns:a="http://schemas.openxmlformats.org/drawingml/2006/main">
              <a:ext uri="{FF2B5EF4-FFF2-40B4-BE49-F238E27FC236}">
                <a16:creationId xmlns:a16="http://schemas.microsoft.com/office/drawing/2014/main" id="{3F6589FF-624D-44DB-A0AD-D0A871071E10}"/>
              </a:ext>
            </a:extLst>
          </p:cNvPr>
          <p:cNvSpPr>
            <a:spLocks xmlns:a="http://schemas.openxmlformats.org/drawingml/2006/main" noGrp="1"/>
          </p:cNvSpPr>
          <p:nvPr/>
        </p:nvSpPr>
        <p:spPr>
          <a:xfrm xmlns:a="http://schemas.openxmlformats.org/drawingml/2006/main">
            <a:off x="9372600" y="4667250"/>
            <a:ext cx="16002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7A7B4"/>
                </a:solidFill>
                <a:latin typeface="Aptos"/>
                <a:ea typeface="Aptos"/>
                <a:cs typeface="Aptos"/>
              </a:defRPr>
            </a:pPr>
            <a:r>
              <a:rPr sz="1125" b="0">
                <a:solidFill>
                  <a:srgbClr val="A7A7B4"/>
                </a:solidFill>
                <a:latin typeface="Aptos"/>
                <a:ea typeface="Aptos"/>
                <a:cs typeface="Aptos"/>
              </a:rPr>
              <a:t>Refunds, disputes, payment issues, ID review, cancellations.</a:t>
            </a:r>
          </a:p>
        </p:txBody>
      </p:sp>
      <p:sp>
        <p:nvSpPr>
          <p:cNvPr id="46" name="">
            <a:extLst xmlns:a="http://schemas.openxmlformats.org/drawingml/2006/main">
              <a:ext uri="{FF2B5EF4-FFF2-40B4-BE49-F238E27FC236}">
                <a16:creationId xmlns:a16="http://schemas.microsoft.com/office/drawing/2014/main" id="{3FF03C1E-09A7-4FBD-94F4-05691CB2A27D}"/>
              </a:ext>
            </a:extLst>
          </p:cNvPr>
          <p:cNvSpPr>
            <a:spLocks xmlns:a="http://schemas.openxmlformats.org/drawingml/2006/main" noGrp="1"/>
          </p:cNvSpPr>
          <p:nvPr/>
        </p:nvSpPr>
        <p:spPr>
          <a:xfrm xmlns:a="http://schemas.openxmlformats.org/drawingml/2006/main">
            <a:off x="400050" y="6419850"/>
            <a:ext cx="1905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alpha val="53333"/>
                  </a:srgbClr>
                </a:solidFill>
                <a:latin typeface="Aptos"/>
                <a:ea typeface="Aptos"/>
                <a:cs typeface="Aptos"/>
              </a:defRPr>
            </a:pPr>
            <a:r>
              <a:rPr sz="1050" b="1">
                <a:solidFill>
                  <a:srgbClr val="FFFFFF">
                    <a:alpha val="53333"/>
                  </a:srgbClr>
                </a:solidFill>
                <a:latin typeface="Aptos"/>
                <a:ea typeface="Aptos"/>
                <a:cs typeface="Aptos"/>
              </a:rPr>
              <a:t>BookMe</a:t>
            </a:r>
          </a:p>
        </p:txBody>
      </p:sp>
      <p:sp>
        <p:nvSpPr>
          <p:cNvPr id="47" name="">
            <a:extLst xmlns:a="http://schemas.openxmlformats.org/drawingml/2006/main">
              <a:ext uri="{FF2B5EF4-FFF2-40B4-BE49-F238E27FC236}">
                <a16:creationId xmlns:a16="http://schemas.microsoft.com/office/drawing/2014/main" id="{DD070457-CFAE-4E53-9519-F091BC260725}"/>
              </a:ext>
            </a:extLst>
          </p:cNvPr>
          <p:cNvSpPr>
            <a:spLocks xmlns:a="http://schemas.openxmlformats.org/drawingml/2006/main" noGrp="1"/>
          </p:cNvSpPr>
          <p:nvPr/>
        </p:nvSpPr>
        <p:spPr>
          <a:xfrm xmlns:a="http://schemas.openxmlformats.org/drawingml/2006/main">
            <a:off x="10858500" y="6419850"/>
            <a:ext cx="914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FFFFFF">
                    <a:alpha val="40000"/>
                  </a:srgbClr>
                </a:solidFill>
                <a:latin typeface="Aptos"/>
                <a:ea typeface="Aptos"/>
                <a:cs typeface="Aptos"/>
              </a:defRPr>
            </a:pPr>
            <a:r>
              <a:rPr sz="975" b="0">
                <a:solidFill>
                  <a:srgbClr val="FFFFFF">
                    <a:alpha val="40000"/>
                  </a:srgbClr>
                </a:solidFill>
                <a:latin typeface="Aptos"/>
                <a:ea typeface="Aptos"/>
                <a:cs typeface="Aptos"/>
              </a:rPr>
              <a:t>04/05</a:t>
            </a:r>
          </a:p>
        </p:txBody>
      </p:sp>
    </p:spTree>
    <p:extLst>
      <p:ext uri="{BB962C8B-B14F-4D97-AF65-F5344CB8AC3E}">
        <p14:creationId xmlns:p14="http://schemas.microsoft.com/office/powerpoint/2010/main" val="8608629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F85C1C-1EAD-4451-937F-5BB70FC006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70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BEF4BF3-FC04-494B-AF2F-5553E7EDD4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1121A"/>
              </a:gs>
              <a:gs pos="42000">
                <a:srgbClr val="07070A"/>
              </a:gs>
              <a:gs pos="100000">
                <a:srgbClr val="100B18"/>
              </a:gs>
            </a:gsLst>
            <a:lin ang="8100000"/>
          </a:gra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067B88B-6FAA-4FFE-B5C4-00CE580A2840}"/>
              </a:ext>
            </a:extLst>
          </p:cNvPr>
          <p:cNvSpPr>
            <a:spLocks xmlns:a="http://schemas.openxmlformats.org/drawingml/2006/main" noGrp="1"/>
          </p:cNvSpPr>
          <p:nvPr/>
        </p:nvSpPr>
        <p:spPr>
          <a:xfrm xmlns:a="http://schemas.openxmlformats.org/drawingml/2006/main">
            <a:off x="400050" y="323850"/>
            <a:ext cx="11391900" cy="9525"/>
          </a:xfrm>
          <a:prstGeom xmlns:a="http://schemas.openxmlformats.org/drawingml/2006/main" prst="rect">
            <a:avLst/>
          </a:prstGeom>
          <a:solidFill xmlns:a="http://schemas.openxmlformats.org/drawingml/2006/main">
            <a:srgbClr val="FFFFFF">
              <a:alpha val="9412"/>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BC06357-F602-475F-B82A-45C7FB4851E0}"/>
              </a:ext>
            </a:extLst>
          </p:cNvPr>
          <p:cNvSpPr>
            <a:spLocks xmlns:a="http://schemas.openxmlformats.org/drawingml/2006/main" noGrp="1"/>
          </p:cNvSpPr>
          <p:nvPr/>
        </p:nvSpPr>
        <p:spPr>
          <a:xfrm xmlns:a="http://schemas.openxmlformats.org/drawingml/2006/main">
            <a:off x="514350" y="590550"/>
            <a:ext cx="495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D8FF6A"/>
                </a:solidFill>
                <a:latin typeface="Aptos"/>
                <a:ea typeface="Aptos"/>
                <a:cs typeface="Aptos"/>
              </a:defRPr>
            </a:pPr>
            <a:r>
              <a:rPr sz="975" b="1">
                <a:solidFill>
                  <a:srgbClr val="D8FF6A"/>
                </a:solidFill>
                <a:latin typeface="Aptos"/>
                <a:ea typeface="Aptos"/>
                <a:cs typeface="Aptos"/>
              </a:rPr>
              <a:t>ARTIFACT SNAPSHOT</a:t>
            </a:r>
          </a:p>
        </p:txBody>
      </p:sp>
      <p:sp>
        <p:nvSpPr>
          <p:cNvPr id="5" name="">
            <a:extLst xmlns:a="http://schemas.openxmlformats.org/drawingml/2006/main">
              <a:ext uri="{FF2B5EF4-FFF2-40B4-BE49-F238E27FC236}">
                <a16:creationId xmlns:a16="http://schemas.microsoft.com/office/drawing/2014/main" id="{E0BC7030-4E10-463D-8F5D-8DA1AB39AC8F}"/>
              </a:ext>
            </a:extLst>
          </p:cNvPr>
          <p:cNvSpPr>
            <a:spLocks xmlns:a="http://schemas.openxmlformats.org/drawingml/2006/main" noGrp="1"/>
          </p:cNvSpPr>
          <p:nvPr/>
        </p:nvSpPr>
        <p:spPr>
          <a:xfrm xmlns:a="http://schemas.openxmlformats.org/drawingml/2006/main">
            <a:off x="514350" y="914400"/>
            <a:ext cx="5905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900" b="1">
                <a:solidFill>
                  <a:srgbClr val="FFFFFF"/>
                </a:solidFill>
                <a:latin typeface="Aptos Display"/>
                <a:ea typeface="Aptos Display"/>
                <a:cs typeface="Aptos Display"/>
              </a:defRPr>
            </a:pPr>
            <a:r>
              <a:rPr sz="3900" b="1">
                <a:solidFill>
                  <a:srgbClr val="FFFFFF"/>
                </a:solidFill>
                <a:latin typeface="Aptos Display"/>
                <a:ea typeface="Aptos Display"/>
                <a:cs typeface="Aptos Display"/>
              </a:rPr>
              <a:t>A working hosted app, not a notebook.</a:t>
            </a:r>
          </a:p>
        </p:txBody>
      </p:sp>
      <p:sp>
        <p:nvSpPr>
          <p:cNvPr id="6" name="">
            <a:extLst xmlns:a="http://schemas.openxmlformats.org/drawingml/2006/main">
              <a:ext uri="{FF2B5EF4-FFF2-40B4-BE49-F238E27FC236}">
                <a16:creationId xmlns:a16="http://schemas.microsoft.com/office/drawing/2014/main" id="{D4D7905B-5AE9-4B45-A027-4458488C429A}"/>
              </a:ext>
            </a:extLst>
          </p:cNvPr>
          <p:cNvSpPr>
            <a:spLocks xmlns:a="http://schemas.openxmlformats.org/drawingml/2006/main" noGrp="1"/>
          </p:cNvSpPr>
          <p:nvPr/>
        </p:nvSpPr>
        <p:spPr>
          <a:xfrm xmlns:a="http://schemas.openxmlformats.org/drawingml/2006/main">
            <a:off x="552450" y="2152650"/>
            <a:ext cx="558165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A7A7B4"/>
                </a:solidFill>
                <a:latin typeface="Aptos"/>
                <a:ea typeface="Aptos"/>
                <a:cs typeface="Aptos"/>
              </a:defRPr>
            </a:pPr>
            <a:r>
              <a:rPr sz="1575" b="0">
                <a:solidFill>
                  <a:srgbClr val="A7A7B4"/>
                </a:solidFill>
                <a:latin typeface="Aptos"/>
                <a:ea typeface="Aptos"/>
                <a:cs typeface="Aptos"/>
              </a:rPr>
              <a:t>The repo includes app code, prompts/tool routes, setup instructions, evaluation notes, smoke tests, and hosted demo links.</a:t>
            </a:r>
          </a:p>
        </p:txBody>
      </p:sp>
      <p:sp>
        <p:nvSpPr>
          <p:cNvPr id="7" name="">
            <a:extLst xmlns:a="http://schemas.openxmlformats.org/drawingml/2006/main">
              <a:ext uri="{FF2B5EF4-FFF2-40B4-BE49-F238E27FC236}">
                <a16:creationId xmlns:a16="http://schemas.microsoft.com/office/drawing/2014/main" id="{091DC7EF-E47A-43C0-8C11-76359020BF6D}"/>
              </a:ext>
            </a:extLst>
          </p:cNvPr>
          <p:cNvSpPr>
            <a:spLocks xmlns:a="http://schemas.openxmlformats.org/drawingml/2006/main" noGrp="1"/>
          </p:cNvSpPr>
          <p:nvPr/>
        </p:nvSpPr>
        <p:spPr>
          <a:xfrm xmlns:a="http://schemas.openxmlformats.org/drawingml/2006/main">
            <a:off x="552450" y="3295650"/>
            <a:ext cx="2914650" cy="1885950"/>
          </a:xfrm>
          <a:prstGeom xmlns:a="http://schemas.openxmlformats.org/drawingml/2006/main" prst="roundRect">
            <a:avLst>
              <a:gd name="adj" fmla="val 4040"/>
            </a:avLst>
          </a:prstGeom>
          <a:solidFill xmlns:a="http://schemas.openxmlformats.org/drawingml/2006/main">
            <a:srgbClr val="FFFFFF">
              <a:alpha val="5098"/>
            </a:srgbClr>
          </a:solidFill>
          <a:ln xmlns:a="http://schemas.openxmlformats.org/drawingml/2006/main" w="9525">
            <a:solidFill>
              <a:srgbClr val="FFFFFF">
                <a:alpha val="13333"/>
              </a:srgbClr>
            </a:solidFill>
            <a:prstDash val="solid"/>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2eb44286ee74d6b"/>
          <a:srcRect xmlns:a="http://schemas.openxmlformats.org/drawingml/2006/main" l="0" t="7483" r="0" b="7483"/>
          <a:stretch xmlns:a="http://schemas.openxmlformats.org/drawingml/2006/main">
            <a:fillRect l="0" t="0" r="0" b="0"/>
          </a:stretch>
        </p:blipFill>
        <p:spPr>
          <a:xfrm xmlns:a="http://schemas.openxmlformats.org/drawingml/2006/main">
            <a:off x="647700" y="3390900"/>
            <a:ext cx="2724150" cy="1447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856259E-9482-425F-9BCC-8C3A78166B1E}"/>
              </a:ext>
            </a:extLst>
          </p:cNvPr>
          <p:cNvSpPr>
            <a:spLocks xmlns:a="http://schemas.openxmlformats.org/drawingml/2006/main" noGrp="1"/>
          </p:cNvSpPr>
          <p:nvPr/>
        </p:nvSpPr>
        <p:spPr>
          <a:xfrm xmlns:a="http://schemas.openxmlformats.org/drawingml/2006/main">
            <a:off x="704850" y="4914900"/>
            <a:ext cx="2609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Landing</a:t>
            </a:r>
          </a:p>
        </p:txBody>
      </p:sp>
      <p:sp>
        <p:nvSpPr>
          <p:cNvPr id="10" name="">
            <a:extLst xmlns:a="http://schemas.openxmlformats.org/drawingml/2006/main">
              <a:ext uri="{FF2B5EF4-FFF2-40B4-BE49-F238E27FC236}">
                <a16:creationId xmlns:a16="http://schemas.microsoft.com/office/drawing/2014/main" id="{0FF38921-F8B7-4A87-AB61-936DCF316980}"/>
              </a:ext>
            </a:extLst>
          </p:cNvPr>
          <p:cNvSpPr>
            <a:spLocks xmlns:a="http://schemas.openxmlformats.org/drawingml/2006/main" noGrp="1"/>
          </p:cNvSpPr>
          <p:nvPr/>
        </p:nvSpPr>
        <p:spPr>
          <a:xfrm xmlns:a="http://schemas.openxmlformats.org/drawingml/2006/main">
            <a:off x="3733800" y="3295650"/>
            <a:ext cx="2914650" cy="1885950"/>
          </a:xfrm>
          <a:prstGeom xmlns:a="http://schemas.openxmlformats.org/drawingml/2006/main" prst="roundRect">
            <a:avLst>
              <a:gd name="adj" fmla="val 4040"/>
            </a:avLst>
          </a:prstGeom>
          <a:solidFill xmlns:a="http://schemas.openxmlformats.org/drawingml/2006/main">
            <a:srgbClr val="FFFFFF">
              <a:alpha val="5098"/>
            </a:srgbClr>
          </a:solidFill>
          <a:ln xmlns:a="http://schemas.openxmlformats.org/drawingml/2006/main" w="9525">
            <a:solidFill>
              <a:srgbClr val="FFFFFF">
                <a:alpha val="13333"/>
              </a:srgbClr>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333ebf8ffb74b23"/>
          <a:srcRect xmlns:a="http://schemas.openxmlformats.org/drawingml/2006/main" l="0" t="7483" r="0" b="7483"/>
          <a:stretch xmlns:a="http://schemas.openxmlformats.org/drawingml/2006/main">
            <a:fillRect l="0" t="0" r="0" b="0"/>
          </a:stretch>
        </p:blipFill>
        <p:spPr>
          <a:xfrm xmlns:a="http://schemas.openxmlformats.org/drawingml/2006/main">
            <a:off x="3829050" y="3390900"/>
            <a:ext cx="2724150" cy="1447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1F96AF5D-941A-40BE-A602-4A1536AE004F}"/>
              </a:ext>
            </a:extLst>
          </p:cNvPr>
          <p:cNvSpPr>
            <a:spLocks xmlns:a="http://schemas.openxmlformats.org/drawingml/2006/main" noGrp="1"/>
          </p:cNvSpPr>
          <p:nvPr/>
        </p:nvSpPr>
        <p:spPr>
          <a:xfrm xmlns:a="http://schemas.openxmlformats.org/drawingml/2006/main">
            <a:off x="3886200" y="4914900"/>
            <a:ext cx="2609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Guest AI front desk</a:t>
            </a:r>
          </a:p>
        </p:txBody>
      </p:sp>
      <p:sp>
        <p:nvSpPr>
          <p:cNvPr id="13" name="">
            <a:extLst xmlns:a="http://schemas.openxmlformats.org/drawingml/2006/main">
              <a:ext uri="{FF2B5EF4-FFF2-40B4-BE49-F238E27FC236}">
                <a16:creationId xmlns:a16="http://schemas.microsoft.com/office/drawing/2014/main" id="{18BBA751-C417-49F7-896C-569350F0E44E}"/>
              </a:ext>
            </a:extLst>
          </p:cNvPr>
          <p:cNvSpPr>
            <a:spLocks xmlns:a="http://schemas.openxmlformats.org/drawingml/2006/main" noGrp="1"/>
          </p:cNvSpPr>
          <p:nvPr/>
        </p:nvSpPr>
        <p:spPr>
          <a:xfrm xmlns:a="http://schemas.openxmlformats.org/drawingml/2006/main">
            <a:off x="6915150" y="3295650"/>
            <a:ext cx="2914650" cy="1885950"/>
          </a:xfrm>
          <a:prstGeom xmlns:a="http://schemas.openxmlformats.org/drawingml/2006/main" prst="roundRect">
            <a:avLst>
              <a:gd name="adj" fmla="val 4040"/>
            </a:avLst>
          </a:prstGeom>
          <a:solidFill xmlns:a="http://schemas.openxmlformats.org/drawingml/2006/main">
            <a:srgbClr val="FFFFFF">
              <a:alpha val="5098"/>
            </a:srgbClr>
          </a:solidFill>
          <a:ln xmlns:a="http://schemas.openxmlformats.org/drawingml/2006/main" w="9525">
            <a:solidFill>
              <a:srgbClr val="FFFFFF">
                <a:alpha val="13333"/>
              </a:srgbClr>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b0b5e3dee584752"/>
          <a:srcRect xmlns:a="http://schemas.openxmlformats.org/drawingml/2006/main" l="0" t="7483" r="0" b="7483"/>
          <a:stretch xmlns:a="http://schemas.openxmlformats.org/drawingml/2006/main">
            <a:fillRect l="0" t="0" r="0" b="0"/>
          </a:stretch>
        </p:blipFill>
        <p:spPr>
          <a:xfrm xmlns:a="http://schemas.openxmlformats.org/drawingml/2006/main">
            <a:off x="7010400" y="3390900"/>
            <a:ext cx="2724150" cy="14478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6040DED8-A901-41E1-BC32-D64644A18847}"/>
              </a:ext>
            </a:extLst>
          </p:cNvPr>
          <p:cNvSpPr>
            <a:spLocks xmlns:a="http://schemas.openxmlformats.org/drawingml/2006/main" noGrp="1"/>
          </p:cNvSpPr>
          <p:nvPr/>
        </p:nvSpPr>
        <p:spPr>
          <a:xfrm xmlns:a="http://schemas.openxmlformats.org/drawingml/2006/main">
            <a:off x="7067550" y="4914900"/>
            <a:ext cx="2609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Owner dashboard</a:t>
            </a:r>
          </a:p>
        </p:txBody>
      </p:sp>
      <p:sp>
        <p:nvSpPr>
          <p:cNvPr id="16" name="">
            <a:extLst xmlns:a="http://schemas.openxmlformats.org/drawingml/2006/main">
              <a:ext uri="{FF2B5EF4-FFF2-40B4-BE49-F238E27FC236}">
                <a16:creationId xmlns:a16="http://schemas.microsoft.com/office/drawing/2014/main" id="{DA6A6D79-B4CA-4DED-8AD2-8A0E1380282C}"/>
              </a:ext>
            </a:extLst>
          </p:cNvPr>
          <p:cNvSpPr>
            <a:spLocks xmlns:a="http://schemas.openxmlformats.org/drawingml/2006/main" noGrp="1"/>
          </p:cNvSpPr>
          <p:nvPr/>
        </p:nvSpPr>
        <p:spPr>
          <a:xfrm xmlns:a="http://schemas.openxmlformats.org/drawingml/2006/main">
            <a:off x="10096500" y="3295650"/>
            <a:ext cx="1314450" cy="1885950"/>
          </a:xfrm>
          <a:prstGeom xmlns:a="http://schemas.openxmlformats.org/drawingml/2006/main" prst="roundRect">
            <a:avLst>
              <a:gd name="adj" fmla="val 5797"/>
            </a:avLst>
          </a:prstGeom>
          <a:solidFill xmlns:a="http://schemas.openxmlformats.org/drawingml/2006/main">
            <a:srgbClr val="D8FF6A"/>
          </a:solidFill>
          <a:ln xmlns:a="http://schemas.openxmlformats.org/drawingml/2006/main" w="9525">
            <a:solidFill>
              <a:srgbClr val="D8FF6A"/>
            </a:solidFill>
            <a:prstDash val="solid"/>
          </a:ln>
        </p:spPr>
      </p:sp>
      <p:sp>
        <p:nvSpPr>
          <p:cNvPr id="17" name="">
            <a:extLst xmlns:a="http://schemas.openxmlformats.org/drawingml/2006/main">
              <a:ext uri="{FF2B5EF4-FFF2-40B4-BE49-F238E27FC236}">
                <a16:creationId xmlns:a16="http://schemas.microsoft.com/office/drawing/2014/main" id="{7F979DD1-CDA0-4A36-8C34-C062250C052A}"/>
              </a:ext>
            </a:extLst>
          </p:cNvPr>
          <p:cNvSpPr>
            <a:spLocks xmlns:a="http://schemas.openxmlformats.org/drawingml/2006/main" noGrp="1"/>
          </p:cNvSpPr>
          <p:nvPr/>
        </p:nvSpPr>
        <p:spPr>
          <a:xfrm xmlns:a="http://schemas.openxmlformats.org/drawingml/2006/main">
            <a:off x="10267950" y="3505200"/>
            <a:ext cx="9715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09090B"/>
                </a:solidFill>
                <a:latin typeface="Aptos"/>
                <a:ea typeface="Aptos"/>
                <a:cs typeface="Aptos"/>
              </a:defRPr>
            </a:pPr>
            <a:r>
              <a:rPr sz="1800" b="1">
                <a:solidFill>
                  <a:srgbClr val="09090B"/>
                </a:solidFill>
                <a:latin typeface="Aptos"/>
                <a:ea typeface="Aptos"/>
                <a:cs typeface="Aptos"/>
              </a:rPr>
              <a:t>Try it live</a:t>
            </a:r>
          </a:p>
        </p:txBody>
      </p:sp>
      <p:sp>
        <p:nvSpPr>
          <p:cNvPr id="18" name="">
            <a:extLst xmlns:a="http://schemas.openxmlformats.org/drawingml/2006/main">
              <a:ext uri="{FF2B5EF4-FFF2-40B4-BE49-F238E27FC236}">
                <a16:creationId xmlns:a16="http://schemas.microsoft.com/office/drawing/2014/main" id="{72B51D63-BCB5-4611-AA68-EA5FF3C048C1}"/>
              </a:ext>
            </a:extLst>
          </p:cNvPr>
          <p:cNvSpPr>
            <a:spLocks xmlns:a="http://schemas.openxmlformats.org/drawingml/2006/main" noGrp="1"/>
          </p:cNvSpPr>
          <p:nvPr/>
        </p:nvSpPr>
        <p:spPr>
          <a:xfrm xmlns:a="http://schemas.openxmlformats.org/drawingml/2006/main">
            <a:off x="10248900" y="4210050"/>
            <a:ext cx="10096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09090B"/>
                </a:solidFill>
                <a:latin typeface="Aptos"/>
                <a:ea typeface="Aptos"/>
                <a:cs typeface="Aptos"/>
              </a:defRPr>
            </a:pPr>
            <a:r>
              <a:rPr sz="1125" b="1">
                <a:solidFill>
                  <a:srgbClr val="09090B"/>
                </a:solidFill>
                <a:latin typeface="Aptos"/>
                <a:ea typeface="Aptos"/>
                <a:cs typeface="Aptos"/>
              </a:rPr>
              <a:t>bookme-vercel.vercel.app</a:t>
            </a:r>
          </a:p>
        </p:txBody>
      </p:sp>
      <p:sp>
        <p:nvSpPr>
          <p:cNvPr id="19" name="">
            <a:extLst xmlns:a="http://schemas.openxmlformats.org/drawingml/2006/main">
              <a:ext uri="{FF2B5EF4-FFF2-40B4-BE49-F238E27FC236}">
                <a16:creationId xmlns:a16="http://schemas.microsoft.com/office/drawing/2014/main" id="{794827F1-573E-49A3-A6CB-E6BDE08DBCCD}"/>
              </a:ext>
            </a:extLst>
          </p:cNvPr>
          <p:cNvSpPr>
            <a:spLocks xmlns:a="http://schemas.openxmlformats.org/drawingml/2006/main" noGrp="1"/>
          </p:cNvSpPr>
          <p:nvPr/>
        </p:nvSpPr>
        <p:spPr>
          <a:xfrm xmlns:a="http://schemas.openxmlformats.org/drawingml/2006/main">
            <a:off x="552450" y="5581650"/>
            <a:ext cx="10287000" cy="400050"/>
          </a:xfrm>
          <a:prstGeom xmlns:a="http://schemas.openxmlformats.org/drawingml/2006/main" prst="roundRect">
            <a:avLst>
              <a:gd name="adj" fmla="val 19048"/>
            </a:avLst>
          </a:prstGeom>
          <a:solidFill xmlns:a="http://schemas.openxmlformats.org/drawingml/2006/main">
            <a:srgbClr val="FFFFFF">
              <a:alpha val="5490"/>
            </a:srgbClr>
          </a:solidFill>
          <a:ln xmlns:a="http://schemas.openxmlformats.org/drawingml/2006/main" w="9525">
            <a:solidFill>
              <a:srgbClr val="FFFFFF">
                <a:alpha val="9412"/>
              </a:srgbClr>
            </a:solidFill>
            <a:prstDash val="solid"/>
          </a:ln>
        </p:spPr>
      </p:sp>
      <p:sp>
        <p:nvSpPr>
          <p:cNvPr id="20" name="">
            <a:extLst xmlns:a="http://schemas.openxmlformats.org/drawingml/2006/main">
              <a:ext uri="{FF2B5EF4-FFF2-40B4-BE49-F238E27FC236}">
                <a16:creationId xmlns:a16="http://schemas.microsoft.com/office/drawing/2014/main" id="{B3E88A6E-D9A5-45FA-9B33-1D25D0337DDB}"/>
              </a:ext>
            </a:extLst>
          </p:cNvPr>
          <p:cNvSpPr>
            <a:spLocks xmlns:a="http://schemas.openxmlformats.org/drawingml/2006/main" noGrp="1"/>
          </p:cNvSpPr>
          <p:nvPr/>
        </p:nvSpPr>
        <p:spPr>
          <a:xfrm xmlns:a="http://schemas.openxmlformats.org/drawingml/2006/main">
            <a:off x="781050" y="5686425"/>
            <a:ext cx="9829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alpha val="90980"/>
                  </a:srgbClr>
                </a:solidFill>
                <a:latin typeface="Aptos"/>
                <a:ea typeface="Aptos"/>
                <a:cs typeface="Aptos"/>
              </a:defRPr>
            </a:pPr>
            <a:r>
              <a:rPr sz="1275" b="1">
                <a:solidFill>
                  <a:srgbClr val="FFFFFF">
                    <a:alpha val="90980"/>
                  </a:srgbClr>
                </a:solidFill>
                <a:latin typeface="Aptos"/>
                <a:ea typeface="Aptos"/>
                <a:cs typeface="Aptos"/>
              </a:rPr>
              <a:t>Takeaway: GenAI becomes useful when it is attached to one business workflow and grounded in tools.</a:t>
            </a:r>
          </a:p>
        </p:txBody>
      </p:sp>
      <p:sp>
        <p:nvSpPr>
          <p:cNvPr id="21" name="">
            <a:extLst xmlns:a="http://schemas.openxmlformats.org/drawingml/2006/main">
              <a:ext uri="{FF2B5EF4-FFF2-40B4-BE49-F238E27FC236}">
                <a16:creationId xmlns:a16="http://schemas.microsoft.com/office/drawing/2014/main" id="{28C4007D-2998-454F-9BC4-26EA6AB30BF8}"/>
              </a:ext>
            </a:extLst>
          </p:cNvPr>
          <p:cNvSpPr>
            <a:spLocks xmlns:a="http://schemas.openxmlformats.org/drawingml/2006/main" noGrp="1"/>
          </p:cNvSpPr>
          <p:nvPr/>
        </p:nvSpPr>
        <p:spPr>
          <a:xfrm xmlns:a="http://schemas.openxmlformats.org/drawingml/2006/main">
            <a:off x="400050" y="6419850"/>
            <a:ext cx="1905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alpha val="53333"/>
                  </a:srgbClr>
                </a:solidFill>
                <a:latin typeface="Aptos"/>
                <a:ea typeface="Aptos"/>
                <a:cs typeface="Aptos"/>
              </a:defRPr>
            </a:pPr>
            <a:r>
              <a:rPr sz="1050" b="1">
                <a:solidFill>
                  <a:srgbClr val="FFFFFF">
                    <a:alpha val="53333"/>
                  </a:srgbClr>
                </a:solidFill>
                <a:latin typeface="Aptos"/>
                <a:ea typeface="Aptos"/>
                <a:cs typeface="Aptos"/>
              </a:rPr>
              <a:t>BookMe</a:t>
            </a:r>
          </a:p>
        </p:txBody>
      </p:sp>
      <p:sp>
        <p:nvSpPr>
          <p:cNvPr id="22" name="">
            <a:extLst xmlns:a="http://schemas.openxmlformats.org/drawingml/2006/main">
              <a:ext uri="{FF2B5EF4-FFF2-40B4-BE49-F238E27FC236}">
                <a16:creationId xmlns:a16="http://schemas.microsoft.com/office/drawing/2014/main" id="{BCBF4DB4-14DD-47A5-BCCF-41BC76EBD13D}"/>
              </a:ext>
            </a:extLst>
          </p:cNvPr>
          <p:cNvSpPr>
            <a:spLocks xmlns:a="http://schemas.openxmlformats.org/drawingml/2006/main" noGrp="1"/>
          </p:cNvSpPr>
          <p:nvPr/>
        </p:nvSpPr>
        <p:spPr>
          <a:xfrm xmlns:a="http://schemas.openxmlformats.org/drawingml/2006/main">
            <a:off x="10858500" y="6419850"/>
            <a:ext cx="914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FFFFFF">
                    <a:alpha val="40000"/>
                  </a:srgbClr>
                </a:solidFill>
                <a:latin typeface="Aptos"/>
                <a:ea typeface="Aptos"/>
                <a:cs typeface="Aptos"/>
              </a:defRPr>
            </a:pPr>
            <a:r>
              <a:rPr sz="975" b="0">
                <a:solidFill>
                  <a:srgbClr val="FFFFFF">
                    <a:alpha val="40000"/>
                  </a:srgbClr>
                </a:solidFill>
                <a:latin typeface="Aptos"/>
                <a:ea typeface="Aptos"/>
                <a:cs typeface="Aptos"/>
              </a:rPr>
              <a:t>05/05</a:t>
            </a:r>
          </a:p>
        </p:txBody>
      </p:sp>
    </p:spTree>
    <p:extLst>
      <p:ext uri="{BB962C8B-B14F-4D97-AF65-F5344CB8AC3E}">
        <p14:creationId xmlns:p14="http://schemas.microsoft.com/office/powerpoint/2010/main" val="20473689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2026-05-08T21:51:37.5000000Z</dcterms:created>
  <dcterms:modified xsi:type="dcterms:W3CDTF">2026-05-08T21:51:37.5000000Z</dcterms:modified>
</coreProperties>
</file>